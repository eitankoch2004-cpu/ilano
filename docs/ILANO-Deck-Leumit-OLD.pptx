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pic>
        <p:nvPicPr>
          <p:cNvPr id="3" name="p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635000"/>
            <a:ext cx="7112000" cy="1866900"/>
          </a:xfrm>
          <a:prstGeom prst="rect">
            <a:avLst/>
          </a:prstGeom>
        </p:spPr>
      </p:pic>
      <p:sp>
        <p:nvSpPr>
          <p:cNvPr id="4" name="s4"/>
          <p:cNvSpPr/>
          <p:nvPr/>
        </p:nvSpPr>
        <p:spPr>
          <a:xfrm>
            <a:off x="10820400" y="2870200"/>
            <a:ext cx="558800" cy="50800"/>
          </a:xfrm>
          <a:prstGeom prst="rect">
            <a:avLst/>
          </a:prstGeom>
          <a:solidFill>
            <a:srgbClr val="2FAE8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5" name="t5"/>
          <p:cNvSpPr txBox="1"/>
          <p:nvPr/>
        </p:nvSpPr>
        <p:spPr>
          <a:xfrm>
            <a:off x="812800" y="3175000"/>
            <a:ext cx="105664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600" b="1" dirty="0">
                <a:solidFill>
                  <a:srgbClr val="FFFFFF"/>
                </a:solidFill>
                <a:latin typeface="Segoe UI"/>
                <a:cs typeface="Segoe UI"/>
              </a:rPr>
              <a:t>משפחה אחת. ארבע קופות.</a:t>
            </a:r>
          </a:p>
        </p:txBody>
      </p:sp>
      <p:sp>
        <p:nvSpPr>
          <p:cNvPr id="6" name="t6"/>
          <p:cNvSpPr txBox="1"/>
          <p:nvPr/>
        </p:nvSpPr>
        <p:spPr>
          <a:xfrm>
            <a:off x="812800" y="3810000"/>
            <a:ext cx="10566400" cy="86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5200" b="1" dirty="0">
                <a:solidFill>
                  <a:srgbClr val="2FAE8E"/>
                </a:solidFill>
                <a:latin typeface="Segoe UI"/>
                <a:cs typeface="Segoe UI"/>
              </a:rPr>
              <a:t>מסך אחד.</a:t>
            </a:r>
          </a:p>
        </p:txBody>
      </p:sp>
      <p:sp>
        <p:nvSpPr>
          <p:cNvPr id="7" name="t7"/>
          <p:cNvSpPr txBox="1"/>
          <p:nvPr/>
        </p:nvSpPr>
        <p:spPr>
          <a:xfrm>
            <a:off x="812800" y="4927600"/>
            <a:ext cx="10566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0" dirty="0">
                <a:solidFill>
                  <a:srgbClr val="8FA19C"/>
                </a:solidFill>
                <a:latin typeface="Segoe UI"/>
                <a:cs typeface="Segoe UI"/>
              </a:rPr>
              <a:t>ILANO‏ קוראת את מה שהרופא כתב, יודעת מה הצעד הבא — ולא נותנת לו ליפול.</a:t>
            </a:r>
          </a:p>
        </p:txBody>
      </p:sp>
      <p:sp>
        <p:nvSpPr>
          <p:cNvPr id="8" name="s8"/>
          <p:cNvSpPr/>
          <p:nvPr/>
        </p:nvSpPr>
        <p:spPr>
          <a:xfrm>
            <a:off x="812800" y="5791200"/>
            <a:ext cx="105664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9" name="t9"/>
          <p:cNvSpPr txBox="1"/>
          <p:nvPr/>
        </p:nvSpPr>
        <p:spPr>
          <a:xfrm>
            <a:off x="812800" y="5969000"/>
            <a:ext cx="1056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8FA19C"/>
                </a:solidFill>
                <a:latin typeface="Segoe UI"/>
                <a:cs typeface="Segoe UI"/>
              </a:rPr>
              <a:t>WeCcelerate  ·  לאומית  ·  אוגוסט 2026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812800" y="6273800"/>
            <a:ext cx="1056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800" b="0" dirty="0">
                <a:solidFill>
                  <a:srgbClr val="8FA19C"/>
                </a:solidFill>
                <a:latin typeface="Segoe UI"/>
                <a:cs typeface="Segoe UI"/>
              </a:rPr>
              <a:t>אין ל-ILANO חיבור, הסכם או קשר לאף ספק בריאות. כל הנתונים במצגת הם הדגמה.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הבעיה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בכל משפחה יש אדם אחד שמחזיק את הכול בראש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והמידע שהוא צריך פזור בין שלוש קופות, כמה אפליקציות וערימת מסמכים בתיק.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616200"/>
            <a:ext cx="2463800" cy="2006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1016000" y="2844800"/>
            <a:ext cx="2057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2000" b="1" dirty="0">
                <a:solidFill>
                  <a:srgbClr val="101718"/>
                </a:solidFill>
                <a:latin typeface="Segoe UI"/>
                <a:cs typeface="Segoe UI"/>
              </a:rPr>
              <a:t>רונית</a:t>
            </a:r>
          </a:p>
        </p:txBody>
      </p:sp>
      <p:sp>
        <p:nvSpPr>
          <p:cNvPr id="8" name="t8"/>
          <p:cNvSpPr txBox="1"/>
          <p:nvPr/>
        </p:nvSpPr>
        <p:spPr>
          <a:xfrm>
            <a:off x="1016000" y="3225800"/>
            <a:ext cx="2057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38  ·  מנהלת את כולם</a:t>
            </a:r>
          </a:p>
        </p:txBody>
      </p:sp>
      <p:sp>
        <p:nvSpPr>
          <p:cNvPr id="9" name="s9"/>
          <p:cNvSpPr/>
          <p:nvPr/>
        </p:nvSpPr>
        <p:spPr>
          <a:xfrm>
            <a:off x="1016000" y="3708400"/>
            <a:ext cx="1219200" cy="330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" name="t10"/>
          <p:cNvSpPr txBox="1"/>
          <p:nvPr/>
        </p:nvSpPr>
        <p:spPr>
          <a:xfrm>
            <a:off x="1016000" y="3759200"/>
            <a:ext cx="1219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1" dirty="0">
                <a:solidFill>
                  <a:srgbClr val="FFFFFF"/>
                </a:solidFill>
                <a:latin typeface="Segoe UI"/>
                <a:cs typeface="Segoe UI"/>
              </a:rPr>
              <a:t>לאומית</a:t>
            </a:r>
          </a:p>
        </p:txBody>
      </p:sp>
      <p:sp>
        <p:nvSpPr>
          <p:cNvPr id="11" name="s11"/>
          <p:cNvSpPr/>
          <p:nvPr/>
        </p:nvSpPr>
        <p:spPr>
          <a:xfrm>
            <a:off x="3479800" y="2616200"/>
            <a:ext cx="2463800" cy="2006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" name="t12"/>
          <p:cNvSpPr txBox="1"/>
          <p:nvPr/>
        </p:nvSpPr>
        <p:spPr>
          <a:xfrm>
            <a:off x="3683000" y="2844800"/>
            <a:ext cx="2057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2000" b="1" dirty="0">
                <a:solidFill>
                  <a:srgbClr val="101718"/>
                </a:solidFill>
                <a:latin typeface="Segoe UI"/>
                <a:cs typeface="Segoe UI"/>
              </a:rPr>
              <a:t>גדי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3683000" y="3225800"/>
            <a:ext cx="2057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41  ·  טכנאי</a:t>
            </a:r>
          </a:p>
        </p:txBody>
      </p:sp>
      <p:sp>
        <p:nvSpPr>
          <p:cNvPr id="14" name="s14"/>
          <p:cNvSpPr/>
          <p:nvPr/>
        </p:nvSpPr>
        <p:spPr>
          <a:xfrm>
            <a:off x="3683000" y="3708400"/>
            <a:ext cx="1219200" cy="330200"/>
          </a:xfrm>
          <a:prstGeom prst="rect">
            <a:avLst/>
          </a:prstGeom>
          <a:solidFill>
            <a:srgbClr val="7D4E9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t15"/>
          <p:cNvSpPr txBox="1"/>
          <p:nvPr/>
        </p:nvSpPr>
        <p:spPr>
          <a:xfrm>
            <a:off x="3683000" y="3759200"/>
            <a:ext cx="1219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1" dirty="0">
                <a:solidFill>
                  <a:srgbClr val="FFFFFF"/>
                </a:solidFill>
                <a:latin typeface="Segoe UI"/>
                <a:cs typeface="Segoe UI"/>
              </a:rPr>
              <a:t>מאוחדת</a:t>
            </a:r>
          </a:p>
        </p:txBody>
      </p:sp>
      <p:sp>
        <p:nvSpPr>
          <p:cNvPr id="16" name="s16"/>
          <p:cNvSpPr/>
          <p:nvPr/>
        </p:nvSpPr>
        <p:spPr>
          <a:xfrm>
            <a:off x="6146800" y="2616200"/>
            <a:ext cx="2463800" cy="2006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7" name="t17"/>
          <p:cNvSpPr txBox="1"/>
          <p:nvPr/>
        </p:nvSpPr>
        <p:spPr>
          <a:xfrm>
            <a:off x="6350000" y="2844800"/>
            <a:ext cx="2057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2000" b="1" dirty="0">
                <a:solidFill>
                  <a:srgbClr val="101718"/>
                </a:solidFill>
                <a:latin typeface="Segoe UI"/>
                <a:cs typeface="Segoe UI"/>
              </a:rPr>
              <a:t>דניאל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6350000" y="3225800"/>
            <a:ext cx="2057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7  ·  כיתה ב׳</a:t>
            </a:r>
          </a:p>
        </p:txBody>
      </p:sp>
      <p:sp>
        <p:nvSpPr>
          <p:cNvPr id="19" name="s19"/>
          <p:cNvSpPr/>
          <p:nvPr/>
        </p:nvSpPr>
        <p:spPr>
          <a:xfrm>
            <a:off x="6350000" y="3708400"/>
            <a:ext cx="1219200" cy="330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0" name="t20"/>
          <p:cNvSpPr txBox="1"/>
          <p:nvPr/>
        </p:nvSpPr>
        <p:spPr>
          <a:xfrm>
            <a:off x="6350000" y="3759200"/>
            <a:ext cx="1219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1" dirty="0">
                <a:solidFill>
                  <a:srgbClr val="FFFFFF"/>
                </a:solidFill>
                <a:latin typeface="Segoe UI"/>
                <a:cs typeface="Segoe UI"/>
              </a:rPr>
              <a:t>לאומית</a:t>
            </a:r>
          </a:p>
        </p:txBody>
      </p:sp>
      <p:sp>
        <p:nvSpPr>
          <p:cNvPr id="21" name="s21"/>
          <p:cNvSpPr/>
          <p:nvPr/>
        </p:nvSpPr>
        <p:spPr>
          <a:xfrm>
            <a:off x="8813800" y="2616200"/>
            <a:ext cx="2463800" cy="2006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2" name="t22"/>
          <p:cNvSpPr txBox="1"/>
          <p:nvPr/>
        </p:nvSpPr>
        <p:spPr>
          <a:xfrm>
            <a:off x="9017000" y="2844800"/>
            <a:ext cx="20574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2000" b="1" dirty="0">
                <a:solidFill>
                  <a:srgbClr val="101718"/>
                </a:solidFill>
                <a:latin typeface="Segoe UI"/>
                <a:cs typeface="Segoe UI"/>
              </a:rPr>
              <a:t>מאיה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9017000" y="3225800"/>
            <a:ext cx="20574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3  ·  גן</a:t>
            </a:r>
          </a:p>
        </p:txBody>
      </p:sp>
      <p:sp>
        <p:nvSpPr>
          <p:cNvPr id="24" name="s24"/>
          <p:cNvSpPr/>
          <p:nvPr/>
        </p:nvSpPr>
        <p:spPr>
          <a:xfrm>
            <a:off x="9017000" y="3708400"/>
            <a:ext cx="1219200" cy="3302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5" name="t25"/>
          <p:cNvSpPr txBox="1"/>
          <p:nvPr/>
        </p:nvSpPr>
        <p:spPr>
          <a:xfrm>
            <a:off x="9017000" y="3759200"/>
            <a:ext cx="1219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1" dirty="0">
                <a:solidFill>
                  <a:srgbClr val="FFFFFF"/>
                </a:solidFill>
                <a:latin typeface="Segoe UI"/>
                <a:cs typeface="Segoe UI"/>
              </a:rPr>
              <a:t>כללית</a:t>
            </a:r>
          </a:p>
        </p:txBody>
      </p:sp>
      <p:sp>
        <p:nvSpPr>
          <p:cNvPr id="26" name="s26"/>
          <p:cNvSpPr/>
          <p:nvPr/>
        </p:nvSpPr>
        <p:spPr>
          <a:xfrm>
            <a:off x="812800" y="5029200"/>
            <a:ext cx="10464800" cy="7874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7" name="t27"/>
          <p:cNvSpPr txBox="1"/>
          <p:nvPr/>
        </p:nvSpPr>
        <p:spPr>
          <a:xfrm>
            <a:off x="1117600" y="5181600"/>
            <a:ext cx="9855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700" b="1" dirty="0">
                <a:solidFill>
                  <a:srgbClr val="0B5F58"/>
                </a:solidFill>
                <a:latin typeface="Segoe UI"/>
                <a:cs typeface="Segoe UI"/>
              </a:rPr>
              <a:t>שלוש קופות תחת קורת גג אחת. וזו משפחה קטנה.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1117600" y="54864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0" dirty="0">
                <a:solidFill>
                  <a:srgbClr val="12857A"/>
                </a:solidFill>
                <a:latin typeface="Segoe UI"/>
                <a:cs typeface="Segoe UI"/>
              </a:rPr>
              <a:t>לכל קופה אפליקציה, ממשק וזהות משלה. רונית מתרגמת ביניהן בראש.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812800" y="5994400"/>
            <a:ext cx="1046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900" b="0" dirty="0">
                <a:solidFill>
                  <a:srgbClr val="63736F"/>
                </a:solidFill>
                <a:latin typeface="Segoe UI"/>
                <a:cs typeface="Segoe UI"/>
              </a:rPr>
              <a:t>משפחת לוי היא דוגמה בדויה שנבנתה להמחשה.</a:t>
            </a:r>
          </a:p>
        </p:txBody>
      </p:sp>
      <p:pic>
        <p:nvPicPr>
          <p:cNvPr id="30" name="p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31" name="t31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02  /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הבעיה מתרחבת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רונית לא מנהלת ארבעה. היא מנהלת שישה.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ההורה שמטפל בילדיו מטפל גם בהוריו. בעולם קוראים לזה דור הסנדוויץ׳ — והוא כבר גייס מאות מיליוני דולרים.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438400"/>
            <a:ext cx="1676400" cy="990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914400" y="2590800"/>
            <a:ext cx="1473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רונית</a:t>
            </a:r>
          </a:p>
        </p:txBody>
      </p:sp>
      <p:sp>
        <p:nvSpPr>
          <p:cNvPr id="8" name="t8"/>
          <p:cNvSpPr txBox="1"/>
          <p:nvPr/>
        </p:nvSpPr>
        <p:spPr>
          <a:xfrm>
            <a:off x="914400" y="2895600"/>
            <a:ext cx="147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38</a:t>
            </a:r>
          </a:p>
        </p:txBody>
      </p:sp>
      <p:sp>
        <p:nvSpPr>
          <p:cNvPr id="9" name="s9"/>
          <p:cNvSpPr/>
          <p:nvPr/>
        </p:nvSpPr>
        <p:spPr>
          <a:xfrm>
            <a:off x="965200" y="3098800"/>
            <a:ext cx="1371600" cy="2794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" name="t10"/>
          <p:cNvSpPr txBox="1"/>
          <p:nvPr/>
        </p:nvSpPr>
        <p:spPr>
          <a:xfrm>
            <a:off x="965200" y="31242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1" dirty="0">
                <a:solidFill>
                  <a:srgbClr val="FFFFFF"/>
                </a:solidFill>
                <a:latin typeface="Segoe UI"/>
                <a:cs typeface="Segoe UI"/>
              </a:rPr>
              <a:t>לאומית</a:t>
            </a:r>
          </a:p>
        </p:txBody>
      </p:sp>
      <p:sp>
        <p:nvSpPr>
          <p:cNvPr id="11" name="s11"/>
          <p:cNvSpPr/>
          <p:nvPr/>
        </p:nvSpPr>
        <p:spPr>
          <a:xfrm>
            <a:off x="2590800" y="2438400"/>
            <a:ext cx="1676400" cy="990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" name="t12"/>
          <p:cNvSpPr txBox="1"/>
          <p:nvPr/>
        </p:nvSpPr>
        <p:spPr>
          <a:xfrm>
            <a:off x="2692400" y="2590800"/>
            <a:ext cx="1473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גדי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2692400" y="2895600"/>
            <a:ext cx="147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41</a:t>
            </a:r>
          </a:p>
        </p:txBody>
      </p:sp>
      <p:sp>
        <p:nvSpPr>
          <p:cNvPr id="14" name="s14"/>
          <p:cNvSpPr/>
          <p:nvPr/>
        </p:nvSpPr>
        <p:spPr>
          <a:xfrm>
            <a:off x="2743200" y="3098800"/>
            <a:ext cx="1371600" cy="279400"/>
          </a:xfrm>
          <a:prstGeom prst="rect">
            <a:avLst/>
          </a:prstGeom>
          <a:solidFill>
            <a:srgbClr val="7D4E9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t15"/>
          <p:cNvSpPr txBox="1"/>
          <p:nvPr/>
        </p:nvSpPr>
        <p:spPr>
          <a:xfrm>
            <a:off x="2743200" y="31242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1" dirty="0">
                <a:solidFill>
                  <a:srgbClr val="FFFFFF"/>
                </a:solidFill>
                <a:latin typeface="Segoe UI"/>
                <a:cs typeface="Segoe UI"/>
              </a:rPr>
              <a:t>מאוחדת</a:t>
            </a:r>
          </a:p>
        </p:txBody>
      </p:sp>
      <p:sp>
        <p:nvSpPr>
          <p:cNvPr id="16" name="s16"/>
          <p:cNvSpPr/>
          <p:nvPr/>
        </p:nvSpPr>
        <p:spPr>
          <a:xfrm>
            <a:off x="4368800" y="2438400"/>
            <a:ext cx="1676400" cy="990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7" name="t17"/>
          <p:cNvSpPr txBox="1"/>
          <p:nvPr/>
        </p:nvSpPr>
        <p:spPr>
          <a:xfrm>
            <a:off x="4470400" y="2590800"/>
            <a:ext cx="1473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דניאל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4470400" y="2895600"/>
            <a:ext cx="147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19" name="s19"/>
          <p:cNvSpPr/>
          <p:nvPr/>
        </p:nvSpPr>
        <p:spPr>
          <a:xfrm>
            <a:off x="4521200" y="3098800"/>
            <a:ext cx="1371600" cy="2794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0" name="t20"/>
          <p:cNvSpPr txBox="1"/>
          <p:nvPr/>
        </p:nvSpPr>
        <p:spPr>
          <a:xfrm>
            <a:off x="4521200" y="31242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1" dirty="0">
                <a:solidFill>
                  <a:srgbClr val="FFFFFF"/>
                </a:solidFill>
                <a:latin typeface="Segoe UI"/>
                <a:cs typeface="Segoe UI"/>
              </a:rPr>
              <a:t>לאומית</a:t>
            </a:r>
          </a:p>
        </p:txBody>
      </p:sp>
      <p:sp>
        <p:nvSpPr>
          <p:cNvPr id="21" name="s21"/>
          <p:cNvSpPr/>
          <p:nvPr/>
        </p:nvSpPr>
        <p:spPr>
          <a:xfrm>
            <a:off x="6146800" y="2438400"/>
            <a:ext cx="1676400" cy="990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2" name="t22"/>
          <p:cNvSpPr txBox="1"/>
          <p:nvPr/>
        </p:nvSpPr>
        <p:spPr>
          <a:xfrm>
            <a:off x="6248400" y="2590800"/>
            <a:ext cx="1473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מאיה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6248400" y="2895600"/>
            <a:ext cx="147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4" name="s24"/>
          <p:cNvSpPr/>
          <p:nvPr/>
        </p:nvSpPr>
        <p:spPr>
          <a:xfrm>
            <a:off x="6299200" y="3098800"/>
            <a:ext cx="1371600" cy="2794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5" name="t25"/>
          <p:cNvSpPr txBox="1"/>
          <p:nvPr/>
        </p:nvSpPr>
        <p:spPr>
          <a:xfrm>
            <a:off x="6299200" y="31242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1" dirty="0">
                <a:solidFill>
                  <a:srgbClr val="FFFFFF"/>
                </a:solidFill>
                <a:latin typeface="Segoe UI"/>
                <a:cs typeface="Segoe UI"/>
              </a:rPr>
              <a:t>כללית</a:t>
            </a:r>
          </a:p>
        </p:txBody>
      </p:sp>
      <p:sp>
        <p:nvSpPr>
          <p:cNvPr id="26" name="s26"/>
          <p:cNvSpPr/>
          <p:nvPr/>
        </p:nvSpPr>
        <p:spPr>
          <a:xfrm>
            <a:off x="7924800" y="2438400"/>
            <a:ext cx="1676400" cy="990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7" name="t27"/>
          <p:cNvSpPr txBox="1"/>
          <p:nvPr/>
        </p:nvSpPr>
        <p:spPr>
          <a:xfrm>
            <a:off x="8026400" y="2590800"/>
            <a:ext cx="1473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חנה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8026400" y="2895600"/>
            <a:ext cx="147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78  ·  אמא של רונית</a:t>
            </a:r>
          </a:p>
        </p:txBody>
      </p:sp>
      <p:sp>
        <p:nvSpPr>
          <p:cNvPr id="29" name="s29"/>
          <p:cNvSpPr/>
          <p:nvPr/>
        </p:nvSpPr>
        <p:spPr>
          <a:xfrm>
            <a:off x="8077200" y="3098800"/>
            <a:ext cx="1371600" cy="2794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0" name="t30"/>
          <p:cNvSpPr txBox="1"/>
          <p:nvPr/>
        </p:nvSpPr>
        <p:spPr>
          <a:xfrm>
            <a:off x="8077200" y="31242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1" dirty="0">
                <a:solidFill>
                  <a:srgbClr val="FFFFFF"/>
                </a:solidFill>
                <a:latin typeface="Segoe UI"/>
                <a:cs typeface="Segoe UI"/>
              </a:rPr>
              <a:t>כללית</a:t>
            </a:r>
          </a:p>
        </p:txBody>
      </p:sp>
      <p:sp>
        <p:nvSpPr>
          <p:cNvPr id="31" name="s31"/>
          <p:cNvSpPr/>
          <p:nvPr/>
        </p:nvSpPr>
        <p:spPr>
          <a:xfrm>
            <a:off x="9702800" y="2438400"/>
            <a:ext cx="1574800" cy="9906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2" name="t32"/>
          <p:cNvSpPr txBox="1"/>
          <p:nvPr/>
        </p:nvSpPr>
        <p:spPr>
          <a:xfrm>
            <a:off x="9779000" y="2590800"/>
            <a:ext cx="142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יעקב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9779000" y="2895600"/>
            <a:ext cx="1422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81  ·  אבא של רונית</a:t>
            </a:r>
          </a:p>
        </p:txBody>
      </p:sp>
      <p:sp>
        <p:nvSpPr>
          <p:cNvPr id="34" name="s34"/>
          <p:cNvSpPr/>
          <p:nvPr/>
        </p:nvSpPr>
        <p:spPr>
          <a:xfrm>
            <a:off x="9804400" y="3098800"/>
            <a:ext cx="1371600" cy="279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5" name="t35"/>
          <p:cNvSpPr txBox="1"/>
          <p:nvPr/>
        </p:nvSpPr>
        <p:spPr>
          <a:xfrm>
            <a:off x="9804400" y="31242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1" dirty="0">
                <a:solidFill>
                  <a:srgbClr val="FFFFFF"/>
                </a:solidFill>
                <a:latin typeface="Segoe UI"/>
                <a:cs typeface="Segoe UI"/>
              </a:rPr>
              <a:t>מכבי</a:t>
            </a:r>
          </a:p>
        </p:txBody>
      </p:sp>
      <p:sp>
        <p:nvSpPr>
          <p:cNvPr id="36" name="s36"/>
          <p:cNvSpPr/>
          <p:nvPr/>
        </p:nvSpPr>
        <p:spPr>
          <a:xfrm>
            <a:off x="812800" y="3657600"/>
            <a:ext cx="5130800" cy="2362200"/>
          </a:xfrm>
          <a:prstGeom prst="rect">
            <a:avLst/>
          </a:prstGeom>
          <a:solidFill>
            <a:srgbClr val="FBEAE7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7" name="t37"/>
          <p:cNvSpPr txBox="1"/>
          <p:nvPr/>
        </p:nvSpPr>
        <p:spPr>
          <a:xfrm>
            <a:off x="1066800" y="38100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B03A2E"/>
                </a:solidFill>
                <a:latin typeface="Segoe UI"/>
                <a:cs typeface="Segoe UI"/>
              </a:rPr>
              <a:t>ולמה דווקא הסבים הם המקרה הקשה</a:t>
            </a:r>
          </a:p>
        </p:txBody>
      </p:sp>
      <p:sp>
        <p:nvSpPr>
          <p:cNvPr id="38" name="t38"/>
          <p:cNvSpPr txBox="1"/>
          <p:nvPr/>
        </p:nvSpPr>
        <p:spPr>
          <a:xfrm>
            <a:off x="1066800" y="4191000"/>
            <a:ext cx="4622800" cy="170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62000"/>
              </a:lnSpc>
            </a:pPr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חמישה רופאים במקום אחד, וכל אחד לא יודע על השני</a:t>
            </a:r>
          </a:p>
          <a:p>
            <a:pPr algn="r" rtl="1">
              <a:lnSpc>
                <a:spcPct val="162000"/>
              </a:lnSpc>
            </a:pPr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שש תרופות שצריך לוודא שאינן מתנגשות</a:t>
            </a:r>
          </a:p>
          <a:p>
            <a:pPr algn="r" rtl="1">
              <a:lnSpc>
                <a:spcPct val="162000"/>
              </a:lnSpc>
            </a:pPr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מוקד טלפוני עם המתנה — לא אפליקציה</a:t>
            </a:r>
          </a:p>
          <a:p>
            <a:pPr algn="r" rtl="1">
              <a:lnSpc>
                <a:spcPct val="162000"/>
              </a:lnSpc>
            </a:pPr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לא תמיד זוכרים מה בדיוק הרופא אמר</a:t>
            </a:r>
          </a:p>
          <a:p>
            <a:pPr algn="r" rtl="1">
              <a:lnSpc>
                <a:spcPct val="162000"/>
              </a:lnSpc>
            </a:pPr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ולרוב פשוט לא רוצים ״להטריד את הבת״</a:t>
            </a:r>
          </a:p>
        </p:txBody>
      </p:sp>
      <p:sp>
        <p:nvSpPr>
          <p:cNvPr id="39" name="s39"/>
          <p:cNvSpPr/>
          <p:nvPr/>
        </p:nvSpPr>
        <p:spPr>
          <a:xfrm>
            <a:off x="6248400" y="3657600"/>
            <a:ext cx="5029200" cy="2362200"/>
          </a:xfrm>
          <a:prstGeom prst="rect">
            <a:avLst/>
          </a:prstGeom>
          <a:solidFill>
            <a:srgbClr val="123A3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0" name="t40"/>
          <p:cNvSpPr txBox="1"/>
          <p:nvPr/>
        </p:nvSpPr>
        <p:spPr>
          <a:xfrm>
            <a:off x="6553200" y="3835400"/>
            <a:ext cx="4419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A8E3CE"/>
                </a:solidFill>
                <a:latin typeface="Segoe UI"/>
                <a:cs typeface="Segoe UI"/>
              </a:rPr>
              <a:t>וכאן האפליקציה לא מסדרת — היא מצילה</a:t>
            </a:r>
          </a:p>
        </p:txBody>
      </p:sp>
      <p:sp>
        <p:nvSpPr>
          <p:cNvPr id="41" name="t41"/>
          <p:cNvSpPr txBox="1"/>
          <p:nvPr/>
        </p:nvSpPr>
        <p:spPr>
          <a:xfrm>
            <a:off x="6553200" y="4216400"/>
            <a:ext cx="4419600" cy="965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28000"/>
              </a:lnSpc>
            </a:pPr>
            <a:r>
              <a:rPr lang="he-IL" sz="1700" b="1" dirty="0">
                <a:solidFill>
                  <a:srgbClr val="FFFFFF"/>
                </a:solidFill>
                <a:latin typeface="Segoe UI"/>
                <a:cs typeface="Segoe UI"/>
              </a:rPr>
              <a:t>כשמישהו אחר רואה את התמונה המלאה, בדיקה שלא נעשתה מפסיקה להיות סוד.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6553200" y="5257800"/>
            <a:ext cx="44196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8FA19C"/>
                </a:solidFill>
                <a:latin typeface="Segoe UI"/>
                <a:cs typeface="Segoe UI"/>
              </a:rPr>
              <a:t>וסבתא חנה לא צריכה ללמוד אפליקציה חדשה. היא רק מאשרת שרונית תראה.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812800" y="6172200"/>
            <a:ext cx="10464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63736F"/>
                </a:solidFill>
                <a:latin typeface="Segoe UI"/>
                <a:cs typeface="Segoe UI"/>
              </a:rPr>
              <a:t>בארה״ב כבר גויסו לפלח הזה מאות מיליוני דולרים — ‏Wellthy‏, ‏Homethrive‏ ו-‏Cariloop‏. בישראל אין אף אחת.</a:t>
            </a:r>
          </a:p>
        </p:txBody>
      </p:sp>
      <p:pic>
        <p:nvPicPr>
          <p:cNvPr id="44" name="p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45" name="t45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03  /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הבעיה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שנה אחת. שלוש המלצות רופא. אף אחת לא בוצעה.</a:t>
            </a:r>
          </a:p>
        </p:txBody>
      </p:sp>
      <p:sp>
        <p:nvSpPr>
          <p:cNvPr id="5" name="s5"/>
          <p:cNvSpPr/>
          <p:nvPr/>
        </p:nvSpPr>
        <p:spPr>
          <a:xfrm>
            <a:off x="812800" y="2184400"/>
            <a:ext cx="5969000" cy="3810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6" name="t6"/>
          <p:cNvSpPr txBox="1"/>
          <p:nvPr/>
        </p:nvSpPr>
        <p:spPr>
          <a:xfrm>
            <a:off x="5765800" y="24130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0B5F58"/>
                </a:solidFill>
                <a:latin typeface="Segoe UI"/>
                <a:cs typeface="Segoe UI"/>
              </a:rPr>
              <a:t>12.3</a:t>
            </a:r>
          </a:p>
        </p:txBody>
      </p:sp>
      <p:sp>
        <p:nvSpPr>
          <p:cNvPr id="7" name="t7"/>
          <p:cNvSpPr txBox="1"/>
          <p:nvPr/>
        </p:nvSpPr>
        <p:spPr>
          <a:xfrm>
            <a:off x="1066800" y="2692400"/>
            <a:ext cx="46228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דניאל אצל רופאת השיניים. ״תחזרו לביקורת בעוד חצי שנה.״</a:t>
            </a:r>
          </a:p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הפתק נכנס לתיק ולא יצא ממנו.</a:t>
            </a:r>
          </a:p>
        </p:txBody>
      </p:sp>
      <p:sp>
        <p:nvSpPr>
          <p:cNvPr id="8" name="t8"/>
          <p:cNvSpPr txBox="1"/>
          <p:nvPr/>
        </p:nvSpPr>
        <p:spPr>
          <a:xfrm>
            <a:off x="5765800" y="33528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0B5F58"/>
                </a:solidFill>
                <a:latin typeface="Segoe UI"/>
                <a:cs typeface="Segoe UI"/>
              </a:rPr>
              <a:t>4.4</a:t>
            </a:r>
          </a:p>
        </p:txBody>
      </p:sp>
      <p:sp>
        <p:nvSpPr>
          <p:cNvPr id="9" name="t9"/>
          <p:cNvSpPr txBox="1"/>
          <p:nvPr/>
        </p:nvSpPr>
        <p:spPr>
          <a:xfrm>
            <a:off x="1066800" y="3632200"/>
            <a:ext cx="46228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מאיה בבדיקת שלוש. האחות ממליצה על בדיקת שמיעה.</a:t>
            </a:r>
          </a:p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רונית מקלידה תזכורת. היא נבלעת ברשימה תוך שבוע.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5765800" y="42926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0B5F58"/>
                </a:solidFill>
                <a:latin typeface="Segoe UI"/>
                <a:cs typeface="Segoe UI"/>
              </a:rPr>
              <a:t>22.5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066800" y="4572000"/>
            <a:ext cx="46228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בדיקות דם של גדי. ערך גבולי, ״לחזור בעוד שלושה חודשים.״</a:t>
            </a:r>
          </a:p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הסיכום נשלח למייל שנקרא פעם בחודש.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5765800" y="5257800"/>
            <a:ext cx="762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63736F"/>
                </a:solidFill>
                <a:latin typeface="Segoe UI"/>
                <a:cs typeface="Segoe UI"/>
              </a:rPr>
              <a:t>19.8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066800" y="55372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רונית מנסה להיזכר אם נותר משהו פתוח.</a:t>
            </a:r>
          </a:p>
        </p:txBody>
      </p:sp>
      <p:sp>
        <p:nvSpPr>
          <p:cNvPr id="14" name="s14"/>
          <p:cNvSpPr/>
          <p:nvPr/>
        </p:nvSpPr>
        <p:spPr>
          <a:xfrm>
            <a:off x="7035800" y="2184400"/>
            <a:ext cx="4241800" cy="3810000"/>
          </a:xfrm>
          <a:prstGeom prst="rect">
            <a:avLst/>
          </a:prstGeom>
          <a:solidFill>
            <a:srgbClr val="FBEAE7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s15"/>
          <p:cNvSpPr/>
          <p:nvPr/>
        </p:nvSpPr>
        <p:spPr>
          <a:xfrm>
            <a:off x="11150600" y="2184400"/>
            <a:ext cx="127000" cy="38100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t16"/>
          <p:cNvSpPr txBox="1"/>
          <p:nvPr/>
        </p:nvSpPr>
        <p:spPr>
          <a:xfrm>
            <a:off x="7289800" y="2438400"/>
            <a:ext cx="3657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B03A2E"/>
                </a:solidFill>
                <a:latin typeface="Segoe UI"/>
                <a:cs typeface="Segoe UI"/>
              </a:rPr>
              <a:t>המצב באוגוסט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289800" y="2971800"/>
            <a:ext cx="365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בדיקת שמיעה — מאיה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7289800" y="3251200"/>
            <a:ext cx="365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B03A2E"/>
                </a:solidFill>
                <a:latin typeface="Segoe UI"/>
                <a:cs typeface="Segoe UI"/>
              </a:rPr>
              <a:t>ארבעה חודשי איחור. נשכח.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289800" y="3784600"/>
            <a:ext cx="365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חזרה על בדיקת דם — גדי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7289800" y="4064000"/>
            <a:ext cx="365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B03A2E"/>
                </a:solidFill>
                <a:latin typeface="Segoe UI"/>
                <a:cs typeface="Segoe UI"/>
              </a:rPr>
              <a:t>המועד חל החודש. המייל לא נפתח.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7289800" y="4597400"/>
            <a:ext cx="365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ביקורת שיניים — דניאל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7289800" y="4876800"/>
            <a:ext cx="365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B03A2E"/>
                </a:solidFill>
                <a:latin typeface="Segoe UI"/>
                <a:cs typeface="Segoe UI"/>
              </a:rPr>
              <a:t>הפתק אבד. איש לא ייזכר עד שיכאב.</a:t>
            </a:r>
          </a:p>
        </p:txBody>
      </p:sp>
      <p:sp>
        <p:nvSpPr>
          <p:cNvPr id="23" name="s23"/>
          <p:cNvSpPr/>
          <p:nvPr/>
        </p:nvSpPr>
        <p:spPr>
          <a:xfrm>
            <a:off x="7289800" y="5384800"/>
            <a:ext cx="3657600" cy="127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4" name="t24"/>
          <p:cNvSpPr txBox="1"/>
          <p:nvPr/>
        </p:nvSpPr>
        <p:spPr>
          <a:xfrm>
            <a:off x="7289800" y="5511800"/>
            <a:ext cx="3657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B03A2E"/>
                </a:solidFill>
                <a:latin typeface="Segoe UI"/>
                <a:cs typeface="Segoe UI"/>
              </a:rPr>
              <a:t>איש מהם לא התרשל.</a:t>
            </a:r>
          </a:p>
        </p:txBody>
      </p:sp>
      <p:pic>
        <p:nvPicPr>
          <p:cNvPr id="25" name="p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6" name="t26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04  /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3"/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C1213">
              <a:alpha val="86000"/>
            </a:srgbClr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4" name="t4"/>
          <p:cNvSpPr txBox="1"/>
          <p:nvPr/>
        </p:nvSpPr>
        <p:spPr>
          <a:xfrm>
            <a:off x="812800" y="279400"/>
            <a:ext cx="10566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2FAE8E"/>
                </a:solidFill>
                <a:latin typeface="Segoe UI"/>
                <a:cs typeface="Segoe UI"/>
              </a:rPr>
              <a:t>הוויז׳ן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558800"/>
            <a:ext cx="1056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2300" b="1" dirty="0">
                <a:solidFill>
                  <a:srgbClr val="FFFFFF"/>
                </a:solidFill>
                <a:latin typeface="Segoe UI"/>
                <a:cs typeface="Segoe UI"/>
              </a:rPr>
              <a:t>מסך אחד שמחזיק את כל המשפחה — ויודע מה הצעד הבא</a:t>
            </a:r>
          </a:p>
        </p:txBody>
      </p:sp>
      <p:sp>
        <p:nvSpPr>
          <p:cNvPr id="6" name="s6"/>
          <p:cNvSpPr/>
          <p:nvPr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rgbClr val="0C1213">
              <a:alpha val="86000"/>
            </a:srgbClr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812800" y="63500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0" dirty="0">
                <a:solidFill>
                  <a:srgbClr val="A8E3CE"/>
                </a:solidFill>
                <a:latin typeface="Segoe UI"/>
                <a:cs typeface="Segoe UI"/>
              </a:rPr>
              <a:t>מסמך נכנס ← פעולה יוצאת          ·          שלושה דברים דורשים החלטה          ·          ארבע קופות, מקור אחד</a:t>
            </a:r>
          </a:p>
        </p:txBody>
      </p:sp>
      <p:sp>
        <p:nvSpPr>
          <p:cNvPr id="8" name="t8"/>
          <p:cNvSpPr txBox="1"/>
          <p:nvPr/>
        </p:nvSpPr>
        <p:spPr>
          <a:xfrm>
            <a:off x="812800" y="6604000"/>
            <a:ext cx="105664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900" b="0" dirty="0">
                <a:solidFill>
                  <a:srgbClr val="8FA19C"/>
                </a:solidFill>
                <a:latin typeface="Segoe UI"/>
                <a:cs typeface="Segoe UI"/>
              </a:rPr>
              <a:t>הדמיה של המוצר. אין כיום חיבור פעיל לאף ספק בריאות.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איך זה עובד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מנוע אחד. שישה שלבים. לולאה שנסגרת.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מה שנראה כמו חמישה פיצ׳רים נפרדים הוא מנגנון אחד שמקבל קלט משתנה.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616200"/>
            <a:ext cx="1625600" cy="1473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965200" y="27686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0B5F58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8" name="t8"/>
          <p:cNvSpPr txBox="1"/>
          <p:nvPr/>
        </p:nvSpPr>
        <p:spPr>
          <a:xfrm>
            <a:off x="965200" y="30480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אירוע</a:t>
            </a:r>
          </a:p>
        </p:txBody>
      </p:sp>
      <p:sp>
        <p:nvSpPr>
          <p:cNvPr id="9" name="t9"/>
          <p:cNvSpPr txBox="1"/>
          <p:nvPr/>
        </p:nvSpPr>
        <p:spPr>
          <a:xfrm>
            <a:off x="965200" y="3378200"/>
            <a:ext cx="1320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ביקור הסתיים</a:t>
            </a:r>
          </a:p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מסמך הועלה</a:t>
            </a:r>
          </a:p>
        </p:txBody>
      </p:sp>
      <p:sp>
        <p:nvSpPr>
          <p:cNvPr id="10" name="s10"/>
          <p:cNvSpPr/>
          <p:nvPr/>
        </p:nvSpPr>
        <p:spPr>
          <a:xfrm>
            <a:off x="2590800" y="2616200"/>
            <a:ext cx="1625600" cy="1473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" name="t11"/>
          <p:cNvSpPr txBox="1"/>
          <p:nvPr/>
        </p:nvSpPr>
        <p:spPr>
          <a:xfrm>
            <a:off x="2743200" y="27686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0B5F58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2743200" y="30480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הבנה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2743200" y="3378200"/>
            <a:ext cx="1320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מה בדיוק</a:t>
            </a:r>
          </a:p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התרחש כאן</a:t>
            </a:r>
          </a:p>
        </p:txBody>
      </p:sp>
      <p:sp>
        <p:nvSpPr>
          <p:cNvPr id="14" name="s14"/>
          <p:cNvSpPr/>
          <p:nvPr/>
        </p:nvSpPr>
        <p:spPr>
          <a:xfrm>
            <a:off x="4368800" y="2616200"/>
            <a:ext cx="1625600" cy="1473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t15"/>
          <p:cNvSpPr txBox="1"/>
          <p:nvPr/>
        </p:nvSpPr>
        <p:spPr>
          <a:xfrm>
            <a:off x="4521200" y="27686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0B5F58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4521200" y="30480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הצעה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4521200" y="3378200"/>
            <a:ext cx="1320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מה נדרש</a:t>
            </a:r>
          </a:p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לקרות כעת</a:t>
            </a:r>
          </a:p>
        </p:txBody>
      </p:sp>
      <p:sp>
        <p:nvSpPr>
          <p:cNvPr id="18" name="s18"/>
          <p:cNvSpPr/>
          <p:nvPr/>
        </p:nvSpPr>
        <p:spPr>
          <a:xfrm>
            <a:off x="6070600" y="2387600"/>
            <a:ext cx="1778000" cy="1930400"/>
          </a:xfrm>
          <a:prstGeom prst="rect">
            <a:avLst/>
          </a:prstGeom>
          <a:solidFill>
            <a:srgbClr val="0B5F5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9" name="t19"/>
          <p:cNvSpPr txBox="1"/>
          <p:nvPr/>
        </p:nvSpPr>
        <p:spPr>
          <a:xfrm>
            <a:off x="6223000" y="2590800"/>
            <a:ext cx="147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A8E3CE"/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6223000" y="2895600"/>
            <a:ext cx="14732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900" b="1" dirty="0">
                <a:solidFill>
                  <a:srgbClr val="FFFFFF"/>
                </a:solidFill>
                <a:latin typeface="Segoe UI"/>
                <a:cs typeface="Segoe UI"/>
              </a:rPr>
              <a:t>אישור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223000" y="3352800"/>
            <a:ext cx="1473200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A8E3CE"/>
                </a:solidFill>
                <a:latin typeface="Segoe UI"/>
                <a:cs typeface="Segoe UI"/>
              </a:rPr>
              <a:t>ההורה מאשר.</a:t>
            </a:r>
          </a:p>
          <a:p>
            <a:pPr algn="r" rtl="1"/>
            <a:r>
              <a:rPr lang="he-IL" sz="1100" b="1" dirty="0">
                <a:solidFill>
                  <a:srgbClr val="A8E3CE"/>
                </a:solidFill>
                <a:latin typeface="Segoe UI"/>
                <a:cs typeface="Segoe UI"/>
              </a:rPr>
              <a:t>אין דילוג.</a:t>
            </a:r>
          </a:p>
        </p:txBody>
      </p:sp>
      <p:sp>
        <p:nvSpPr>
          <p:cNvPr id="22" name="s22"/>
          <p:cNvSpPr/>
          <p:nvPr/>
        </p:nvSpPr>
        <p:spPr>
          <a:xfrm>
            <a:off x="7924800" y="2616200"/>
            <a:ext cx="1625600" cy="1473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23"/>
          <p:cNvSpPr txBox="1"/>
          <p:nvPr/>
        </p:nvSpPr>
        <p:spPr>
          <a:xfrm>
            <a:off x="8077200" y="2768600"/>
            <a:ext cx="1320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0B5F58"/>
                </a:solidFill>
                <a:latin typeface="Segoe UI"/>
                <a:cs typeface="Segoe UI"/>
              </a:rPr>
              <a:t>05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8077200" y="3048000"/>
            <a:ext cx="1320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ביצוע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8077200" y="3378200"/>
            <a:ext cx="13208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לוח משפחתי</a:t>
            </a:r>
          </a:p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ותזכורת</a:t>
            </a:r>
          </a:p>
        </p:txBody>
      </p:sp>
      <p:sp>
        <p:nvSpPr>
          <p:cNvPr id="26" name="s26"/>
          <p:cNvSpPr/>
          <p:nvPr/>
        </p:nvSpPr>
        <p:spPr>
          <a:xfrm>
            <a:off x="9702800" y="2616200"/>
            <a:ext cx="1574800" cy="1473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7" name="t27"/>
          <p:cNvSpPr txBox="1"/>
          <p:nvPr/>
        </p:nvSpPr>
        <p:spPr>
          <a:xfrm>
            <a:off x="9855200" y="2768600"/>
            <a:ext cx="127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1" dirty="0">
                <a:solidFill>
                  <a:srgbClr val="0B5F58"/>
                </a:solidFill>
                <a:latin typeface="Segoe UI"/>
                <a:cs typeface="Segoe UI"/>
              </a:rPr>
              <a:t>06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9855200" y="3048000"/>
            <a:ext cx="127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101718"/>
                </a:solidFill>
                <a:latin typeface="Segoe UI"/>
                <a:cs typeface="Segoe UI"/>
              </a:rPr>
              <a:t>מעקב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9855200" y="3378200"/>
            <a:ext cx="12700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בוצע?</a:t>
            </a:r>
          </a:p>
          <a:p>
            <a:pPr algn="r" rtl="1"/>
            <a:r>
              <a:rPr lang="he-IL" sz="1000" b="0" dirty="0">
                <a:solidFill>
                  <a:srgbClr val="63736F"/>
                </a:solidFill>
                <a:latin typeface="Segoe UI"/>
                <a:cs typeface="Segoe UI"/>
              </a:rPr>
              <a:t>ואם לא, מדוע</a:t>
            </a:r>
          </a:p>
        </p:txBody>
      </p:sp>
      <p:sp>
        <p:nvSpPr>
          <p:cNvPr id="30" name="s30"/>
          <p:cNvSpPr/>
          <p:nvPr/>
        </p:nvSpPr>
        <p:spPr>
          <a:xfrm>
            <a:off x="812800" y="4470400"/>
            <a:ext cx="10464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1" name="t31"/>
          <p:cNvSpPr txBox="1"/>
          <p:nvPr/>
        </p:nvSpPr>
        <p:spPr>
          <a:xfrm>
            <a:off x="812800" y="4648200"/>
            <a:ext cx="104648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שלב 06 מייצר אירוע חדש ומזין את 01. כאן הלולאה נסגרת.</a:t>
            </a:r>
          </a:p>
        </p:txBody>
      </p:sp>
      <p:sp>
        <p:nvSpPr>
          <p:cNvPr id="32" name="s32"/>
          <p:cNvSpPr/>
          <p:nvPr/>
        </p:nvSpPr>
        <p:spPr>
          <a:xfrm>
            <a:off x="812800" y="5080000"/>
            <a:ext cx="10464800" cy="8636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3" name="t33"/>
          <p:cNvSpPr txBox="1"/>
          <p:nvPr/>
        </p:nvSpPr>
        <p:spPr>
          <a:xfrm>
            <a:off x="1117600" y="5232400"/>
            <a:ext cx="98552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0B5F58"/>
                </a:solidFill>
                <a:latin typeface="Segoe UI"/>
                <a:cs typeface="Segoe UI"/>
              </a:rPr>
              <a:t>וזו גם כל התשובה לשאלת האחריות הרפואית: ILANO‏ מציעה, ההורה מאשר. שלב 04 אינו ניתן לדילוג בשום מסלול במוצר.</a:t>
            </a:r>
          </a:p>
        </p:txBody>
      </p:sp>
      <p:pic>
        <p:nvPicPr>
          <p:cNvPr id="34" name="p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35" name="t35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06  /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בפועל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לכל אחד יש גישה — ולכל אחד גישה אחרת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זה מה שמאפשר לאוטומציות לרוץ בלי שאיש יראה מה שאסור לו.</a:t>
            </a:r>
          </a:p>
        </p:txBody>
      </p:sp>
      <p:sp>
        <p:nvSpPr>
          <p:cNvPr id="6" name="s6"/>
          <p:cNvSpPr/>
          <p:nvPr/>
        </p:nvSpPr>
        <p:spPr>
          <a:xfrm>
            <a:off x="6248400" y="2489200"/>
            <a:ext cx="5029200" cy="37084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6553200" y="2667000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0B5F58"/>
                </a:solidFill>
                <a:latin typeface="Segoe UI"/>
                <a:cs typeface="Segoe UI"/>
              </a:rPr>
              <a:t>מי רואה מה</a:t>
            </a:r>
          </a:p>
        </p:txBody>
      </p:sp>
      <p:sp>
        <p:nvSpPr>
          <p:cNvPr id="8" name="t8"/>
          <p:cNvSpPr txBox="1"/>
          <p:nvPr/>
        </p:nvSpPr>
        <p:spPr>
          <a:xfrm>
            <a:off x="6553200" y="3098800"/>
            <a:ext cx="4419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רונית — מנהלת המשפחה</a:t>
            </a:r>
          </a:p>
        </p:txBody>
      </p:sp>
      <p:sp>
        <p:nvSpPr>
          <p:cNvPr id="9" name="t9"/>
          <p:cNvSpPr txBox="1"/>
          <p:nvPr/>
        </p:nvSpPr>
        <p:spPr>
          <a:xfrm>
            <a:off x="6553200" y="3378200"/>
            <a:ext cx="4419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רואה את כל מי שנתן לה הרשאה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553200" y="3759200"/>
            <a:ext cx="4419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גדי — מבוגר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553200" y="4038600"/>
            <a:ext cx="4419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את עצמו ואת הילדים. לא את ההורים של רונית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553200" y="4419600"/>
            <a:ext cx="4419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חנה, 78 — בעלת הפרופיל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6553200" y="4699000"/>
            <a:ext cx="4419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היא מאשרת מה רונית רואה, ויכולה לבטל בכל רגע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553200" y="5080000"/>
            <a:ext cx="4419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דניאל, 7 — פרופיל מנוהל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6553200" y="5359400"/>
            <a:ext cx="4419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בגיל 18 הפרופיל עובר לבעלותו שלו</a:t>
            </a:r>
          </a:p>
        </p:txBody>
      </p:sp>
      <p:sp>
        <p:nvSpPr>
          <p:cNvPr id="16" name="s16"/>
          <p:cNvSpPr/>
          <p:nvPr/>
        </p:nvSpPr>
        <p:spPr>
          <a:xfrm>
            <a:off x="6553200" y="5740400"/>
            <a:ext cx="4419600" cy="3302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7" name="t17"/>
          <p:cNvSpPr txBox="1"/>
          <p:nvPr/>
        </p:nvSpPr>
        <p:spPr>
          <a:xfrm>
            <a:off x="6629400" y="5791200"/>
            <a:ext cx="4267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000" b="1" dirty="0">
                <a:solidFill>
                  <a:srgbClr val="0B5F58"/>
                </a:solidFill>
                <a:latin typeface="Segoe UI"/>
                <a:cs typeface="Segoe UI"/>
              </a:rPr>
              <a:t>ההרשאה נאכפת בנתונים, לא בהסתרת כפתור</a:t>
            </a:r>
          </a:p>
        </p:txBody>
      </p:sp>
      <p:sp>
        <p:nvSpPr>
          <p:cNvPr id="18" name="s18"/>
          <p:cNvSpPr/>
          <p:nvPr/>
        </p:nvSpPr>
        <p:spPr>
          <a:xfrm>
            <a:off x="812800" y="2489200"/>
            <a:ext cx="5130800" cy="3708400"/>
          </a:xfrm>
          <a:prstGeom prst="rect">
            <a:avLst/>
          </a:prstGeom>
          <a:solidFill>
            <a:srgbClr val="123A3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9" name="t19"/>
          <p:cNvSpPr txBox="1"/>
          <p:nvPr/>
        </p:nvSpPr>
        <p:spPr>
          <a:xfrm>
            <a:off x="1117600" y="2667000"/>
            <a:ext cx="4521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A8E3CE"/>
                </a:solidFill>
                <a:latin typeface="Segoe UI"/>
                <a:cs typeface="Segoe UI"/>
              </a:rPr>
              <a:t>מה רץ מעצמו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1117600" y="3098800"/>
            <a:ext cx="4521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FFFFFF"/>
                </a:solidFill>
                <a:latin typeface="Segoe UI"/>
                <a:cs typeface="Segoe UI"/>
              </a:rPr>
              <a:t>מסמך נכנס  ←  פעולה יוצאת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1117600" y="3403600"/>
            <a:ext cx="4521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FFFFFF"/>
                </a:solidFill>
                <a:latin typeface="Segoe UI"/>
                <a:cs typeface="Segoe UI"/>
              </a:rPr>
              <a:t>גיל הילד  ←  חיסון לפי לוח משרד הבריאות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1117600" y="3708400"/>
            <a:ext cx="4521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FFFFFF"/>
                </a:solidFill>
                <a:latin typeface="Segoe UI"/>
                <a:cs typeface="Segoe UI"/>
              </a:rPr>
              <a:t>ביקור הסתיים  ←  המעקב הבא נפתח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1117600" y="4013200"/>
            <a:ext cx="4521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FFFFFF"/>
                </a:solidFill>
                <a:latin typeface="Segoe UI"/>
                <a:cs typeface="Segoe UI"/>
              </a:rPr>
              <a:t>מרשם מתקרב לסופו  ←  תזכורת חידוש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1117600" y="4318000"/>
            <a:ext cx="4521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FFFFFF"/>
                </a:solidFill>
                <a:latin typeface="Segoe UI"/>
                <a:cs typeface="Segoe UI"/>
              </a:rPr>
              <a:t>פעולה לא בוצעה  ←  תזכורת לאדם הנכון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1117600" y="4622800"/>
            <a:ext cx="4521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FFFFFF"/>
                </a:solidFill>
                <a:latin typeface="Segoe UI"/>
                <a:cs typeface="Segoe UI"/>
              </a:rPr>
              <a:t>תור נקבע  ←  נכנס ללוח המשפחתי</a:t>
            </a:r>
          </a:p>
        </p:txBody>
      </p:sp>
      <p:sp>
        <p:nvSpPr>
          <p:cNvPr id="26" name="s26"/>
          <p:cNvSpPr/>
          <p:nvPr/>
        </p:nvSpPr>
        <p:spPr>
          <a:xfrm>
            <a:off x="1117600" y="5080000"/>
            <a:ext cx="45212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7" name="t27"/>
          <p:cNvSpPr txBox="1"/>
          <p:nvPr/>
        </p:nvSpPr>
        <p:spPr>
          <a:xfrm>
            <a:off x="1117600" y="5232400"/>
            <a:ext cx="45212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8FA19C"/>
                </a:solidFill>
                <a:latin typeface="Segoe UI"/>
                <a:cs typeface="Segoe UI"/>
              </a:rPr>
              <a:t>וכל אחת מהן עוברת אישור לפני שהיא קורית. אף אוטומציה לא פועלת לבד — וזה מה שמאפשר לנו להיות אגרסיביים בזיהוי.</a:t>
            </a:r>
          </a:p>
        </p:txBody>
      </p:sp>
      <p:pic>
        <p:nvPicPr>
          <p:cNvPr id="28" name="p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9" name="t29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07  /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האוטומציה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איך כל הקופות נכנסות פנימה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היום — ידני. מ-2027 — אוטומטי. אותו מסך בדיוק.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540000"/>
            <a:ext cx="1930400" cy="711200"/>
          </a:xfrm>
          <a:prstGeom prst="rect">
            <a:avLst/>
          </a:prstGeom>
          <a:solidFill>
            <a:srgbClr val="E6F2EC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812800" y="2743200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1E8449"/>
                </a:solidFill>
                <a:latin typeface="Segoe UI"/>
                <a:cs typeface="Segoe UI"/>
              </a:rPr>
              <a:t>כללית</a:t>
            </a:r>
          </a:p>
        </p:txBody>
      </p:sp>
      <p:sp>
        <p:nvSpPr>
          <p:cNvPr id="8" name="s8"/>
          <p:cNvSpPr/>
          <p:nvPr/>
        </p:nvSpPr>
        <p:spPr>
          <a:xfrm>
            <a:off x="2946400" y="2540000"/>
            <a:ext cx="1930400" cy="7112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9" name="t9"/>
          <p:cNvSpPr txBox="1"/>
          <p:nvPr/>
        </p:nvSpPr>
        <p:spPr>
          <a:xfrm>
            <a:off x="2946400" y="2743200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2B6CB0"/>
                </a:solidFill>
                <a:latin typeface="Segoe UI"/>
                <a:cs typeface="Segoe UI"/>
              </a:rPr>
              <a:t>מכבי</a:t>
            </a:r>
          </a:p>
        </p:txBody>
      </p:sp>
      <p:sp>
        <p:nvSpPr>
          <p:cNvPr id="10" name="s10"/>
          <p:cNvSpPr/>
          <p:nvPr/>
        </p:nvSpPr>
        <p:spPr>
          <a:xfrm>
            <a:off x="5080000" y="2540000"/>
            <a:ext cx="1930400" cy="711200"/>
          </a:xfrm>
          <a:prstGeom prst="rect">
            <a:avLst/>
          </a:prstGeom>
          <a:solidFill>
            <a:srgbClr val="F1EAF7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" name="t11"/>
          <p:cNvSpPr txBox="1"/>
          <p:nvPr/>
        </p:nvSpPr>
        <p:spPr>
          <a:xfrm>
            <a:off x="5080000" y="2743200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7D4E9E"/>
                </a:solidFill>
                <a:latin typeface="Segoe UI"/>
                <a:cs typeface="Segoe UI"/>
              </a:rPr>
              <a:t>מאוחדת</a:t>
            </a:r>
          </a:p>
        </p:txBody>
      </p:sp>
      <p:sp>
        <p:nvSpPr>
          <p:cNvPr id="12" name="s12"/>
          <p:cNvSpPr/>
          <p:nvPr/>
        </p:nvSpPr>
        <p:spPr>
          <a:xfrm>
            <a:off x="7213600" y="2540000"/>
            <a:ext cx="1930400" cy="711200"/>
          </a:xfrm>
          <a:prstGeom prst="rect">
            <a:avLst/>
          </a:prstGeom>
          <a:solidFill>
            <a:srgbClr val="E1F1F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t13"/>
          <p:cNvSpPr txBox="1"/>
          <p:nvPr/>
        </p:nvSpPr>
        <p:spPr>
          <a:xfrm>
            <a:off x="7213600" y="2743200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0E7C86"/>
                </a:solidFill>
                <a:latin typeface="Segoe UI"/>
                <a:cs typeface="Segoe UI"/>
              </a:rPr>
              <a:t>לאומית</a:t>
            </a:r>
          </a:p>
        </p:txBody>
      </p:sp>
      <p:sp>
        <p:nvSpPr>
          <p:cNvPr id="14" name="s14"/>
          <p:cNvSpPr/>
          <p:nvPr/>
        </p:nvSpPr>
        <p:spPr>
          <a:xfrm>
            <a:off x="9347200" y="2540000"/>
            <a:ext cx="1930400" cy="711200"/>
          </a:xfrm>
          <a:prstGeom prst="rect">
            <a:avLst/>
          </a:prstGeom>
          <a:solidFill>
            <a:srgbClr val="EDF1F0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t15"/>
          <p:cNvSpPr txBox="1"/>
          <p:nvPr/>
        </p:nvSpPr>
        <p:spPr>
          <a:xfrm>
            <a:off x="9347200" y="2743200"/>
            <a:ext cx="1930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5A6B68"/>
                </a:solidFill>
                <a:latin typeface="Segoe UI"/>
                <a:cs typeface="Segoe UI"/>
              </a:rPr>
              <a:t>צה״ל</a:t>
            </a:r>
          </a:p>
        </p:txBody>
      </p:sp>
      <p:sp>
        <p:nvSpPr>
          <p:cNvPr id="16" name="s16"/>
          <p:cNvSpPr/>
          <p:nvPr/>
        </p:nvSpPr>
        <p:spPr>
          <a:xfrm>
            <a:off x="6019800" y="3276600"/>
            <a:ext cx="38100" cy="2794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7" name="s17"/>
          <p:cNvSpPr/>
          <p:nvPr/>
        </p:nvSpPr>
        <p:spPr>
          <a:xfrm>
            <a:off x="812800" y="3581400"/>
            <a:ext cx="10464800" cy="736600"/>
          </a:xfrm>
          <a:prstGeom prst="rect">
            <a:avLst/>
          </a:prstGeom>
          <a:solidFill>
            <a:srgbClr val="123A3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8" name="t18"/>
          <p:cNvSpPr txBox="1"/>
          <p:nvPr/>
        </p:nvSpPr>
        <p:spPr>
          <a:xfrm>
            <a:off x="1117600" y="3708400"/>
            <a:ext cx="9855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A8E3CE"/>
                </a:solidFill>
                <a:latin typeface="Segoe UI"/>
                <a:cs typeface="Segoe UI"/>
              </a:rPr>
              <a:t>חוק ניוד מידע רפואי, התשפ״ד־2024   ·   תקן FHIR   ·   הסכמת המטופל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1117600" y="4013200"/>
            <a:ext cx="98552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100" b="0" dirty="0">
                <a:solidFill>
                  <a:srgbClr val="8FA19C"/>
                </a:solidFill>
                <a:latin typeface="Segoe UI"/>
                <a:cs typeface="Segoe UI"/>
              </a:rPr>
              <a:t>מערכת מרכזית של משרד הבריאות  ·  תכנית סרטיפיקציה פעילה  ·  מסלול רישוי לאפליקציות</a:t>
            </a:r>
          </a:p>
        </p:txBody>
      </p:sp>
      <p:sp>
        <p:nvSpPr>
          <p:cNvPr id="20" name="s20"/>
          <p:cNvSpPr/>
          <p:nvPr/>
        </p:nvSpPr>
        <p:spPr>
          <a:xfrm>
            <a:off x="6019800" y="4343400"/>
            <a:ext cx="38100" cy="2794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1" name="s21"/>
          <p:cNvSpPr/>
          <p:nvPr/>
        </p:nvSpPr>
        <p:spPr>
          <a:xfrm>
            <a:off x="3810000" y="4648200"/>
            <a:ext cx="4470400" cy="685800"/>
          </a:xfrm>
          <a:prstGeom prst="rect">
            <a:avLst/>
          </a:prstGeom>
          <a:solidFill>
            <a:srgbClr val="0B5F5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2" name="t22"/>
          <p:cNvSpPr txBox="1"/>
          <p:nvPr/>
        </p:nvSpPr>
        <p:spPr>
          <a:xfrm>
            <a:off x="3810000" y="4826000"/>
            <a:ext cx="4470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0"/>
            <a:r>
              <a:rPr lang="en-US" sz="1700" b="1" dirty="0">
                <a:solidFill>
                  <a:srgbClr val="FFFFFF"/>
                </a:solidFill>
                <a:latin typeface="Segoe UI"/>
                <a:cs typeface="Segoe UI"/>
              </a:rPr>
              <a:t>ILANO</a:t>
            </a:r>
          </a:p>
        </p:txBody>
      </p:sp>
      <p:sp>
        <p:nvSpPr>
          <p:cNvPr id="23" name="s23"/>
          <p:cNvSpPr/>
          <p:nvPr/>
        </p:nvSpPr>
        <p:spPr>
          <a:xfrm>
            <a:off x="6019800" y="5359400"/>
            <a:ext cx="38100" cy="2286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4" name="s24"/>
          <p:cNvSpPr/>
          <p:nvPr/>
        </p:nvSpPr>
        <p:spPr>
          <a:xfrm>
            <a:off x="3810000" y="5613400"/>
            <a:ext cx="4470400" cy="5588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5" name="t25"/>
          <p:cNvSpPr txBox="1"/>
          <p:nvPr/>
        </p:nvSpPr>
        <p:spPr>
          <a:xfrm>
            <a:off x="3810000" y="5765800"/>
            <a:ext cx="44704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1500" b="1" dirty="0">
                <a:solidFill>
                  <a:srgbClr val="0B5F58"/>
                </a:solidFill>
                <a:latin typeface="Segoe UI"/>
                <a:cs typeface="Segoe UI"/>
              </a:rPr>
              <a:t>מסך אחד למשפחה</a:t>
            </a:r>
          </a:p>
        </p:txBody>
      </p:sp>
      <p:sp>
        <p:nvSpPr>
          <p:cNvPr id="26" name="s26"/>
          <p:cNvSpPr/>
          <p:nvPr/>
        </p:nvSpPr>
        <p:spPr>
          <a:xfrm>
            <a:off x="812800" y="4648200"/>
            <a:ext cx="2667000" cy="1524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7" name="t27"/>
          <p:cNvSpPr txBox="1"/>
          <p:nvPr/>
        </p:nvSpPr>
        <p:spPr>
          <a:xfrm>
            <a:off x="1016000" y="4800600"/>
            <a:ext cx="2260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63736F"/>
                </a:solidFill>
                <a:latin typeface="Segoe UI"/>
                <a:cs typeface="Segoe UI"/>
              </a:rPr>
              <a:t>היום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1016000" y="5105400"/>
            <a:ext cx="22606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ההורה מצלם מסמך.</a:t>
            </a:r>
          </a:p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ILANO קוראת אותו.</a:t>
            </a:r>
          </a:p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לוח החיסונים הציבורי</a:t>
            </a:r>
          </a:p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עובד גם ללא הזנה.</a:t>
            </a:r>
          </a:p>
        </p:txBody>
      </p:sp>
      <p:sp>
        <p:nvSpPr>
          <p:cNvPr id="29" name="s29"/>
          <p:cNvSpPr/>
          <p:nvPr/>
        </p:nvSpPr>
        <p:spPr>
          <a:xfrm>
            <a:off x="8610600" y="4648200"/>
            <a:ext cx="2667000" cy="1524000"/>
          </a:xfrm>
          <a:prstGeom prst="rect">
            <a:avLst/>
          </a:prstGeom>
          <a:solidFill>
            <a:srgbClr val="E6F2EC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0" name="t30"/>
          <p:cNvSpPr txBox="1"/>
          <p:nvPr/>
        </p:nvSpPr>
        <p:spPr>
          <a:xfrm>
            <a:off x="8813800" y="4800600"/>
            <a:ext cx="2260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1E8449"/>
                </a:solidFill>
                <a:latin typeface="Segoe UI"/>
                <a:cs typeface="Segoe UI"/>
              </a:rPr>
              <a:t>מ-2027</a:t>
            </a:r>
          </a:p>
        </p:txBody>
      </p:sp>
      <p:sp>
        <p:nvSpPr>
          <p:cNvPr id="31" name="t31"/>
          <p:cNvSpPr txBox="1"/>
          <p:nvPr/>
        </p:nvSpPr>
        <p:spPr>
          <a:xfrm>
            <a:off x="8813800" y="5105400"/>
            <a:ext cx="22606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המידע זורם מהקופות</a:t>
            </a:r>
          </a:p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בהסכמת המשתמש.</a:t>
            </a:r>
          </a:p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אותו מסך בדיוק —</a:t>
            </a:r>
          </a:p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בלי שההורה עושה דבר.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812800" y="6299200"/>
            <a:ext cx="10464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900" b="0" dirty="0">
                <a:solidFill>
                  <a:srgbClr val="63736F"/>
                </a:solidFill>
                <a:latin typeface="Segoe UI"/>
                <a:cs typeface="Segoe UI"/>
              </a:rPr>
              <a:t>אין ל-ILANO כיום חיבור, הסכם או קשר לאף אחד מהגופים המופיעים בשקף.</a:t>
            </a:r>
          </a:p>
        </p:txBody>
      </p:sp>
      <p:pic>
        <p:nvPicPr>
          <p:cNvPr id="33" name="p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34" name="t34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08  /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למה עכשיו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המדינה כבר בנתה לנו את התשתית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חוק ניוד מידע רפואי, התשפ״ד־2024. זה לא חזון — זה חוק עם תאריך.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667000"/>
            <a:ext cx="5130800" cy="838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1066800" y="2819400"/>
            <a:ext cx="4622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63736F"/>
                </a:solidFill>
                <a:latin typeface="Segoe UI"/>
                <a:cs typeface="Segoe UI"/>
              </a:rPr>
              <a:t>פורסם ברשומות</a:t>
            </a:r>
          </a:p>
        </p:txBody>
      </p:sp>
      <p:sp>
        <p:nvSpPr>
          <p:cNvPr id="8" name="t8"/>
          <p:cNvSpPr txBox="1"/>
          <p:nvPr/>
        </p:nvSpPr>
        <p:spPr>
          <a:xfrm>
            <a:off x="1066800" y="30988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101718"/>
                </a:solidFill>
                <a:latin typeface="Segoe UI"/>
                <a:cs typeface="Segoe UI"/>
              </a:rPr>
              <a:t>24 ביולי 2024</a:t>
            </a:r>
          </a:p>
        </p:txBody>
      </p:sp>
      <p:sp>
        <p:nvSpPr>
          <p:cNvPr id="9" name="s9"/>
          <p:cNvSpPr/>
          <p:nvPr/>
        </p:nvSpPr>
        <p:spPr>
          <a:xfrm>
            <a:off x="812800" y="3632200"/>
            <a:ext cx="5130800" cy="838200"/>
          </a:xfrm>
          <a:prstGeom prst="rect">
            <a:avLst/>
          </a:prstGeom>
          <a:solidFill>
            <a:srgbClr val="E6F2EC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0" name="t10"/>
          <p:cNvSpPr txBox="1"/>
          <p:nvPr/>
        </p:nvSpPr>
        <p:spPr>
          <a:xfrm>
            <a:off x="1066800" y="3784600"/>
            <a:ext cx="4622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E8449"/>
                </a:solidFill>
                <a:latin typeface="Segoe UI"/>
                <a:cs typeface="Segoe UI"/>
              </a:rPr>
              <a:t>מועד תחילה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066800" y="40640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101718"/>
                </a:solidFill>
                <a:latin typeface="Segoe UI"/>
                <a:cs typeface="Segoe UI"/>
              </a:rPr>
              <a:t>שלוש שנים מהפרסום — סביב יולי 2027</a:t>
            </a:r>
          </a:p>
        </p:txBody>
      </p:sp>
      <p:sp>
        <p:nvSpPr>
          <p:cNvPr id="12" name="s12"/>
          <p:cNvSpPr/>
          <p:nvPr/>
        </p:nvSpPr>
        <p:spPr>
          <a:xfrm>
            <a:off x="812800" y="4597400"/>
            <a:ext cx="5130800" cy="838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t13"/>
          <p:cNvSpPr txBox="1"/>
          <p:nvPr/>
        </p:nvSpPr>
        <p:spPr>
          <a:xfrm>
            <a:off x="1066800" y="4749800"/>
            <a:ext cx="46228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63736F"/>
                </a:solidFill>
                <a:latin typeface="Segoe UI"/>
                <a:cs typeface="Segoe UI"/>
              </a:rPr>
              <a:t>הורחב ב-1 ביולי 2025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066800" y="50292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101718"/>
                </a:solidFill>
                <a:latin typeface="Segoe UI"/>
                <a:cs typeface="Segoe UI"/>
              </a:rPr>
              <a:t>גם צה״ל, ביטוח לאומי, שב״ס ועוד</a:t>
            </a:r>
          </a:p>
        </p:txBody>
      </p:sp>
      <p:sp>
        <p:nvSpPr>
          <p:cNvPr id="15" name="s15"/>
          <p:cNvSpPr/>
          <p:nvPr/>
        </p:nvSpPr>
        <p:spPr>
          <a:xfrm>
            <a:off x="6248400" y="2667000"/>
            <a:ext cx="5029200" cy="2768600"/>
          </a:xfrm>
          <a:prstGeom prst="rect">
            <a:avLst/>
          </a:prstGeom>
          <a:solidFill>
            <a:srgbClr val="123A3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t16"/>
          <p:cNvSpPr txBox="1"/>
          <p:nvPr/>
        </p:nvSpPr>
        <p:spPr>
          <a:xfrm>
            <a:off x="6553200" y="2870200"/>
            <a:ext cx="4419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A8E3CE"/>
                </a:solidFill>
                <a:latin typeface="Segoe UI"/>
                <a:cs typeface="Segoe UI"/>
              </a:rPr>
              <a:t>והשורה שרלוונטית לנו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6553200" y="3251200"/>
            <a:ext cx="44196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28000"/>
              </a:lnSpc>
            </a:pPr>
            <a:r>
              <a:rPr lang="he-IL" sz="1700" b="1" dirty="0">
                <a:solidFill>
                  <a:srgbClr val="FFFFFF"/>
                </a:solidFill>
                <a:latin typeface="Segoe UI"/>
                <a:cs typeface="Segoe UI"/>
              </a:rPr>
              <a:t>החוק פותח מסלול רישוי לגופים שאינם מוסדות רפואיים — ובכללם אפליקציות רפואיות — לקבל מידע בריאות.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6553200" y="4546600"/>
            <a:ext cx="4419600" cy="736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8FA19C"/>
                </a:solidFill>
                <a:latin typeface="Segoe UI"/>
                <a:cs typeface="Segoe UI"/>
              </a:rPr>
              <a:t>משרד הבריאות כבר מריץ תכנית סרטיפיקציה על תקן FHIR, עם פרופילים טכניים וזרימות הסכמה.</a:t>
            </a:r>
          </a:p>
        </p:txBody>
      </p:sp>
      <p:sp>
        <p:nvSpPr>
          <p:cNvPr id="19" name="s19"/>
          <p:cNvSpPr/>
          <p:nvPr/>
        </p:nvSpPr>
        <p:spPr>
          <a:xfrm>
            <a:off x="812800" y="5638800"/>
            <a:ext cx="10464800" cy="6858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0" name="t20"/>
          <p:cNvSpPr txBox="1"/>
          <p:nvPr/>
        </p:nvSpPr>
        <p:spPr>
          <a:xfrm>
            <a:off x="1117600" y="5791200"/>
            <a:ext cx="98552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0B5F58"/>
                </a:solidFill>
                <a:latin typeface="Segoe UI"/>
                <a:cs typeface="Segoe UI"/>
              </a:rPr>
              <a:t>יש חלון של כשנתיים לבנות מוצר, לצבור משפחות, ולהיות מוכנים ליום שבו הצינור נפתח.</a:t>
            </a:r>
          </a:p>
        </p:txBody>
      </p:sp>
      <p:pic>
        <p:nvPicPr>
          <p:cNvPr id="21" name="p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2" name="t22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09  /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בידול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מה כללית ומכבי כבר עושות — ואיפה הן נעצרות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אני מעדיף שתשמעו את זה ממני, לפני שתשמעו את זה ממישהו אחר.</a:t>
            </a:r>
          </a:p>
        </p:txBody>
      </p:sp>
      <p:sp>
        <p:nvSpPr>
          <p:cNvPr id="6" name="s6"/>
          <p:cNvSpPr/>
          <p:nvPr/>
        </p:nvSpPr>
        <p:spPr>
          <a:xfrm>
            <a:off x="7747000" y="2616200"/>
            <a:ext cx="3530600" cy="35306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s7"/>
          <p:cNvSpPr/>
          <p:nvPr/>
        </p:nvSpPr>
        <p:spPr>
          <a:xfrm>
            <a:off x="812800" y="2616200"/>
            <a:ext cx="10464800" cy="558800"/>
          </a:xfrm>
          <a:prstGeom prst="rect">
            <a:avLst/>
          </a:prstGeom>
          <a:solidFill>
            <a:srgbClr val="0B5F5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8" name="s8"/>
          <p:cNvSpPr/>
          <p:nvPr/>
        </p:nvSpPr>
        <p:spPr>
          <a:xfrm>
            <a:off x="7747000" y="2616200"/>
            <a:ext cx="3530600" cy="558800"/>
          </a:xfrm>
          <a:prstGeom prst="rect">
            <a:avLst/>
          </a:prstGeom>
          <a:solidFill>
            <a:srgbClr val="123A3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9" name="t9"/>
          <p:cNvSpPr txBox="1"/>
          <p:nvPr/>
        </p:nvSpPr>
        <p:spPr>
          <a:xfrm>
            <a:off x="1066800" y="27686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FFFFFF"/>
                </a:solidFill>
                <a:latin typeface="Segoe UI"/>
                <a:cs typeface="Segoe UI"/>
              </a:rPr>
              <a:t>היכולת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4368800" y="2768600"/>
            <a:ext cx="317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FFFFFF"/>
                </a:solidFill>
                <a:latin typeface="Segoe UI"/>
                <a:cs typeface="Segoe UI"/>
              </a:rPr>
              <a:t>אפליקציית קופה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8001000" y="2743200"/>
            <a:ext cx="30226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0"/>
            <a:r>
              <a:rPr lang="en-US" sz="1500" b="1" dirty="0">
                <a:solidFill>
                  <a:srgbClr val="A8E3CE"/>
                </a:solidFill>
                <a:latin typeface="Segoe UI"/>
                <a:cs typeface="Segoe UI"/>
              </a:rPr>
              <a:t>ILANO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1066800" y="33528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תצוגה משפחתית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368800" y="3327400"/>
            <a:ext cx="317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כן — החלקה על תמונת הילד.</a:t>
            </a:r>
          </a:p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רק למי שבאותה קופה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8001000" y="3352800"/>
            <a:ext cx="3022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חוצה קופות</a:t>
            </a:r>
          </a:p>
        </p:txBody>
      </p:sp>
      <p:sp>
        <p:nvSpPr>
          <p:cNvPr id="15" name="s15"/>
          <p:cNvSpPr/>
          <p:nvPr/>
        </p:nvSpPr>
        <p:spPr>
          <a:xfrm>
            <a:off x="812800" y="3886200"/>
            <a:ext cx="69342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t16"/>
          <p:cNvSpPr txBox="1"/>
          <p:nvPr/>
        </p:nvSpPr>
        <p:spPr>
          <a:xfrm>
            <a:off x="1066800" y="40386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הצעת צעד הבא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4368800" y="4038600"/>
            <a:ext cx="317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כן — מהנתונים שלה בלבד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8001000" y="3987800"/>
            <a:ext cx="30226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ממסמך שצולם, מהנחיה ציבורית, ומההורה</a:t>
            </a:r>
          </a:p>
        </p:txBody>
      </p:sp>
      <p:sp>
        <p:nvSpPr>
          <p:cNvPr id="19" name="s19"/>
          <p:cNvSpPr/>
          <p:nvPr/>
        </p:nvSpPr>
        <p:spPr>
          <a:xfrm>
            <a:off x="812800" y="4673600"/>
            <a:ext cx="69342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0" name="t20"/>
          <p:cNvSpPr txBox="1"/>
          <p:nvPr/>
        </p:nvSpPr>
        <p:spPr>
          <a:xfrm>
            <a:off x="1066800" y="48260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משפחה בשלוש קופות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4368800" y="4826000"/>
            <a:ext cx="317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שלוש אפליקציות נפרדות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8001000" y="4800600"/>
            <a:ext cx="3022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600" b="1" dirty="0">
                <a:solidFill>
                  <a:srgbClr val="0B5F58"/>
                </a:solidFill>
                <a:latin typeface="Segoe UI"/>
                <a:cs typeface="Segoe UI"/>
              </a:rPr>
              <a:t>מסך אחד</a:t>
            </a:r>
          </a:p>
        </p:txBody>
      </p:sp>
      <p:sp>
        <p:nvSpPr>
          <p:cNvPr id="23" name="s23"/>
          <p:cNvSpPr/>
          <p:nvPr/>
        </p:nvSpPr>
        <p:spPr>
          <a:xfrm>
            <a:off x="812800" y="5435600"/>
            <a:ext cx="69342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4" name="t24"/>
          <p:cNvSpPr txBox="1"/>
          <p:nvPr/>
        </p:nvSpPr>
        <p:spPr>
          <a:xfrm>
            <a:off x="1066800" y="55880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300" b="1" dirty="0">
                <a:solidFill>
                  <a:srgbClr val="101718"/>
                </a:solidFill>
                <a:latin typeface="Segoe UI"/>
                <a:cs typeface="Segoe UI"/>
              </a:rPr>
              <a:t>תמריץ להציג מתחרה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4368800" y="5562600"/>
            <a:ext cx="3175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500" b="1" dirty="0">
                <a:solidFill>
                  <a:srgbClr val="B03A2E"/>
                </a:solidFill>
                <a:latin typeface="Segoe UI"/>
                <a:cs typeface="Segoe UI"/>
              </a:rPr>
              <a:t>אין ולא יהיה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8001000" y="5562600"/>
            <a:ext cx="3022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זו כל מהות המוצר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812800" y="6324600"/>
            <a:ext cx="6934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63736F"/>
                </a:solidFill>
                <a:latin typeface="Segoe UI"/>
                <a:cs typeface="Segoe UI"/>
              </a:rPr>
              <a:t>כללית עושה עבודה טובה — למי שכל המשפחה שלו בכללית.</a:t>
            </a:r>
          </a:p>
        </p:txBody>
      </p:sp>
      <p:pic>
        <p:nvPicPr>
          <p:cNvPr id="28" name="p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9" name="t29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10  /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השותפות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למה דווקא לאומית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זה לא נימוס. זה החישוב.</a:t>
            </a:r>
          </a:p>
        </p:txBody>
      </p:sp>
      <p:sp>
        <p:nvSpPr>
          <p:cNvPr id="6" name="s6"/>
          <p:cNvSpPr/>
          <p:nvPr/>
        </p:nvSpPr>
        <p:spPr>
          <a:xfrm>
            <a:off x="6248400" y="2616200"/>
            <a:ext cx="5029200" cy="1625600"/>
          </a:xfrm>
          <a:prstGeom prst="rect">
            <a:avLst/>
          </a:prstGeom>
          <a:solidFill>
            <a:srgbClr val="123A3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6553200" y="2844800"/>
            <a:ext cx="4419600" cy="111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25000"/>
              </a:lnSpc>
            </a:pPr>
            <a:r>
              <a:rPr lang="he-IL" sz="1900" b="1" dirty="0">
                <a:solidFill>
                  <a:srgbClr val="FFFFFF"/>
                </a:solidFill>
                <a:latin typeface="Segoe UI"/>
                <a:cs typeface="Segoe UI"/>
              </a:rPr>
              <a:t>דווקא לחברי הקופה הקטנה הכי סביר שהמשפחה מפוזרת בין קופות.</a:t>
            </a:r>
          </a:p>
        </p:txBody>
      </p:sp>
      <p:sp>
        <p:nvSpPr>
          <p:cNvPr id="8" name="s8"/>
          <p:cNvSpPr/>
          <p:nvPr/>
        </p:nvSpPr>
        <p:spPr>
          <a:xfrm>
            <a:off x="6248400" y="4394200"/>
            <a:ext cx="5029200" cy="1778000"/>
          </a:xfrm>
          <a:prstGeom prst="rect">
            <a:avLst/>
          </a:prstGeom>
          <a:solidFill>
            <a:srgbClr val="E4F2E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9" name="t9"/>
          <p:cNvSpPr txBox="1"/>
          <p:nvPr/>
        </p:nvSpPr>
        <p:spPr>
          <a:xfrm>
            <a:off x="6553200" y="4597400"/>
            <a:ext cx="4419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0B5F58"/>
                </a:solidFill>
                <a:latin typeface="Segoe UI"/>
                <a:cs typeface="Segoe UI"/>
              </a:rPr>
              <a:t>מה זה שווה ללאומית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553200" y="4953000"/>
            <a:ext cx="4419600" cy="106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30000"/>
              </a:lnSpc>
            </a:pPr>
            <a:r>
              <a:rPr lang="he-IL" sz="1300" b="0" dirty="0">
                <a:solidFill>
                  <a:srgbClr val="0B5F58"/>
                </a:solidFill>
                <a:latin typeface="Segoe UI"/>
                <a:cs typeface="Segoe UI"/>
              </a:rPr>
              <a:t>ILANO הופכת את לאומית לאפליקציה שמחזיקה את כל המשפחה — כולל את מי שאינו חבר בה. זהו כלי שימור, וכלי גיוס.</a:t>
            </a:r>
          </a:p>
        </p:txBody>
      </p:sp>
      <p:sp>
        <p:nvSpPr>
          <p:cNvPr id="11" name="s11"/>
          <p:cNvSpPr/>
          <p:nvPr/>
        </p:nvSpPr>
        <p:spPr>
          <a:xfrm>
            <a:off x="812800" y="2616200"/>
            <a:ext cx="5130800" cy="1092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" name="t12"/>
          <p:cNvSpPr txBox="1"/>
          <p:nvPr/>
        </p:nvSpPr>
        <p:spPr>
          <a:xfrm>
            <a:off x="1066800" y="27686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לכללית אין תמריץ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066800" y="3098800"/>
            <a:ext cx="4622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היא הגדולה. שכבה חוצת־קופות רק פותחת לה דלת החוצה.</a:t>
            </a:r>
          </a:p>
        </p:txBody>
      </p:sp>
      <p:sp>
        <p:nvSpPr>
          <p:cNvPr id="14" name="s14"/>
          <p:cNvSpPr/>
          <p:nvPr/>
        </p:nvSpPr>
        <p:spPr>
          <a:xfrm>
            <a:off x="812800" y="3835400"/>
            <a:ext cx="5130800" cy="10922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t15"/>
          <p:cNvSpPr txBox="1"/>
          <p:nvPr/>
        </p:nvSpPr>
        <p:spPr>
          <a:xfrm>
            <a:off x="1066800" y="39878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0B5F58"/>
                </a:solidFill>
                <a:latin typeface="Segoe UI"/>
                <a:cs typeface="Segoe UI"/>
              </a:rPr>
              <a:t>ללאומית יש תמריץ הפוך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066800" y="4318000"/>
            <a:ext cx="4622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63736F"/>
                </a:solidFill>
                <a:latin typeface="Segoe UI"/>
                <a:cs typeface="Segoe UI"/>
              </a:rPr>
              <a:t>היא נהנית מכל משפחה שמתחילה לראות את הבריאות שלה דרך ממשק שלה.</a:t>
            </a:r>
          </a:p>
        </p:txBody>
      </p:sp>
      <p:sp>
        <p:nvSpPr>
          <p:cNvPr id="17" name="s17"/>
          <p:cNvSpPr/>
          <p:nvPr/>
        </p:nvSpPr>
        <p:spPr>
          <a:xfrm>
            <a:off x="812800" y="5054600"/>
            <a:ext cx="5130800" cy="1117600"/>
          </a:xfrm>
          <a:prstGeom prst="rect">
            <a:avLst/>
          </a:prstGeom>
          <a:solidFill>
            <a:srgbClr val="E6F2EC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8" name="t18"/>
          <p:cNvSpPr txBox="1"/>
          <p:nvPr/>
        </p:nvSpPr>
        <p:spPr>
          <a:xfrm>
            <a:off x="1066800" y="52070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E8449"/>
                </a:solidFill>
                <a:latin typeface="Segoe UI"/>
                <a:cs typeface="Segoe UI"/>
              </a:rPr>
              <a:t>ולכן ההצעה היא שותפות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1066800" y="5537200"/>
            <a:ext cx="4622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101718"/>
                </a:solidFill>
                <a:latin typeface="Segoe UI"/>
                <a:cs typeface="Segoe UI"/>
              </a:rPr>
              <a:t>פיילוט עם משפחות לאומית, ולא רק השקעה. הערך זורם לשני הכיוונים.</a:t>
            </a:r>
          </a:p>
        </p:txBody>
      </p:sp>
      <p:pic>
        <p:nvPicPr>
          <p:cNvPr id="20" name="p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1" name="t21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11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הוכחות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מה כבר בדקנו — ומה עדיין לא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אני מעדיף להיכנס עם ממצאים ועם חורים גלויים, מאשר עם הבטחות.</a:t>
            </a:r>
          </a:p>
        </p:txBody>
      </p:sp>
      <p:sp>
        <p:nvSpPr>
          <p:cNvPr id="6" name="s6"/>
          <p:cNvSpPr/>
          <p:nvPr/>
        </p:nvSpPr>
        <p:spPr>
          <a:xfrm>
            <a:off x="6248400" y="2540000"/>
            <a:ext cx="5029200" cy="3632200"/>
          </a:xfrm>
          <a:prstGeom prst="rect">
            <a:avLst/>
          </a:prstGeom>
          <a:solidFill>
            <a:srgbClr val="E6F2EC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6553200" y="2717800"/>
            <a:ext cx="4419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1E8449"/>
                </a:solidFill>
                <a:latin typeface="Segoe UI"/>
                <a:cs typeface="Segoe UI"/>
              </a:rPr>
              <a:t>נבדק ואומת</a:t>
            </a:r>
          </a:p>
        </p:txBody>
      </p:sp>
      <p:sp>
        <p:nvSpPr>
          <p:cNvPr id="8" name="t8"/>
          <p:cNvSpPr txBox="1"/>
          <p:nvPr/>
        </p:nvSpPr>
        <p:spPr>
          <a:xfrm>
            <a:off x="6553200" y="3098800"/>
            <a:ext cx="44196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חוק ניוד מידע רפואי</a:t>
            </a:r>
          </a:p>
        </p:txBody>
      </p:sp>
      <p:sp>
        <p:nvSpPr>
          <p:cNvPr id="9" name="t9"/>
          <p:cNvSpPr txBox="1"/>
          <p:nvPr/>
        </p:nvSpPr>
        <p:spPr>
          <a:xfrm>
            <a:off x="6553200" y="3378200"/>
            <a:ext cx="4419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תאריכים, מועד תחילה, תכנית סרטיפיקציה, ומסלול הרישוי לאפליקציות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553200" y="4013200"/>
            <a:ext cx="4419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נוף התחרות העולמי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553200" y="4292600"/>
            <a:ext cx="44196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b.well ו-Seqster בנו שכבת איחוד על FHIR עם מעגל משפחתי — בארה״ב. אף אחד לא בנה אותה לישראל, ואף אחד לא חיבר אותה ללולאת מעקב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553200" y="4927600"/>
            <a:ext cx="4419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כללית ומכבי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6553200" y="5207000"/>
            <a:ext cx="4419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מה כל אחת כבר עושה, ואיפה בדיוק היא נעצרת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553200" y="5740400"/>
            <a:ext cx="4419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פטנטים — סריקה ראשונית בלבד</a:t>
            </a:r>
          </a:p>
        </p:txBody>
      </p:sp>
      <p:sp>
        <p:nvSpPr>
          <p:cNvPr id="15" name="s15"/>
          <p:cNvSpPr/>
          <p:nvPr/>
        </p:nvSpPr>
        <p:spPr>
          <a:xfrm>
            <a:off x="812800" y="2540000"/>
            <a:ext cx="5130800" cy="3632200"/>
          </a:xfrm>
          <a:prstGeom prst="rect">
            <a:avLst/>
          </a:prstGeom>
          <a:solidFill>
            <a:srgbClr val="FDF0E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6" name="t16"/>
          <p:cNvSpPr txBox="1"/>
          <p:nvPr/>
        </p:nvSpPr>
        <p:spPr>
          <a:xfrm>
            <a:off x="1066800" y="2717800"/>
            <a:ext cx="4521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CA6F1E"/>
                </a:solidFill>
                <a:latin typeface="Segoe UI"/>
                <a:cs typeface="Segoe UI"/>
              </a:rPr>
              <a:t>טרם נבדק — ואלה השאלות שיקבעו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1066800" y="3149600"/>
            <a:ext cx="4521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כמה משפחות מפוזרות בין קופות?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1066800" y="3429000"/>
            <a:ext cx="45212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אין נתון פומבי. זו הנחת היסוד של כל המוצר — ולכם יש את המספר הזה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1066800" y="4064000"/>
            <a:ext cx="4521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אפשר לחלץ את הפעולה מסיכום צפוף?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1066800" y="4343400"/>
            <a:ext cx="45212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הקריאה כמעט פתורה — הרופאים מדפיסים. השאלה היא איזו שורה מתוך שניים היא ההמלצה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1066800" y="4978400"/>
            <a:ext cx="4521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האם הורה ימסור מסמך רפואי של ילדו?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1066800" y="5257800"/>
            <a:ext cx="45212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101718"/>
                </a:solidFill>
                <a:latin typeface="Segoe UI"/>
                <a:cs typeface="Segoe UI"/>
              </a:rPr>
              <a:t>זה מדד האימות המרכזי שלנו, ולא סקר דעה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1066800" y="5791200"/>
            <a:ext cx="4521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CA6F1E"/>
                </a:solidFill>
                <a:latin typeface="Segoe UI"/>
                <a:cs typeface="Segoe UI"/>
              </a:rPr>
              <a:t>ולכן באנו לכאן, ולא לחדר של VC</a:t>
            </a:r>
          </a:p>
        </p:txBody>
      </p:sp>
      <p:pic>
        <p:nvPicPr>
          <p:cNvPr id="24" name="p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25" name="t25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12  /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" name="t3"/>
          <p:cNvSpPr txBox="1"/>
          <p:nvPr/>
        </p:nvSpPr>
        <p:spPr>
          <a:xfrm>
            <a:off x="812800" y="609600"/>
            <a:ext cx="98552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1" dirty="0">
                <a:solidFill>
                  <a:srgbClr val="12857A"/>
                </a:solidFill>
                <a:latin typeface="Segoe UI"/>
                <a:cs typeface="Segoe UI"/>
              </a:rPr>
              <a:t>חסמים</a:t>
            </a:r>
          </a:p>
        </p:txBody>
      </p:sp>
      <p:sp>
        <p:nvSpPr>
          <p:cNvPr id="4" name="t4"/>
          <p:cNvSpPr txBox="1"/>
          <p:nvPr/>
        </p:nvSpPr>
        <p:spPr>
          <a:xfrm>
            <a:off x="812800" y="9398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3000" b="1" dirty="0">
                <a:solidFill>
                  <a:srgbClr val="101718"/>
                </a:solidFill>
                <a:latin typeface="Segoe UI"/>
                <a:cs typeface="Segoe UI"/>
              </a:rPr>
              <a:t>חמישה חסמים — וחמישה דברים שאתם יכולים לתת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600200"/>
            <a:ext cx="98552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0" dirty="0">
                <a:solidFill>
                  <a:srgbClr val="63736F"/>
                </a:solidFill>
                <a:latin typeface="Segoe UI"/>
                <a:cs typeface="Segoe UI"/>
              </a:rPr>
              <a:t>לכל אחד מהם יש מענה שנמצא בדיוק אצלכם.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540000"/>
            <a:ext cx="10464800" cy="685800"/>
          </a:xfrm>
          <a:prstGeom prst="rect">
            <a:avLst/>
          </a:prstGeom>
          <a:solidFill>
            <a:srgbClr val="FBEAE7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s7"/>
          <p:cNvSpPr/>
          <p:nvPr/>
        </p:nvSpPr>
        <p:spPr>
          <a:xfrm>
            <a:off x="11150600" y="2540000"/>
            <a:ext cx="127000" cy="68580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8" name="t8"/>
          <p:cNvSpPr txBox="1"/>
          <p:nvPr/>
        </p:nvSpPr>
        <p:spPr>
          <a:xfrm>
            <a:off x="10642600" y="26924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2200" b="1" dirty="0">
                <a:solidFill>
                  <a:srgbClr val="B03A2E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9" name="t9"/>
          <p:cNvSpPr txBox="1"/>
          <p:nvPr/>
        </p:nvSpPr>
        <p:spPr>
          <a:xfrm>
            <a:off x="6604000" y="26670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גישה לנתוני הקופות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604000" y="29210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חסם משפטי לפני שהוא הנדסי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117600" y="279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B03A2E"/>
                </a:solidFill>
                <a:latin typeface="Segoe UI"/>
                <a:cs typeface="Segoe UI"/>
              </a:rPr>
              <a:t>מכם: הכוונה על תנאי הרישוי לפי חוק הניוד</a:t>
            </a:r>
          </a:p>
        </p:txBody>
      </p:sp>
      <p:sp>
        <p:nvSpPr>
          <p:cNvPr id="12" name="s12"/>
          <p:cNvSpPr/>
          <p:nvPr/>
        </p:nvSpPr>
        <p:spPr>
          <a:xfrm>
            <a:off x="812800" y="3302000"/>
            <a:ext cx="10464800" cy="685800"/>
          </a:xfrm>
          <a:prstGeom prst="rect">
            <a:avLst/>
          </a:prstGeom>
          <a:solidFill>
            <a:srgbClr val="FDF0E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3" name="s13"/>
          <p:cNvSpPr/>
          <p:nvPr/>
        </p:nvSpPr>
        <p:spPr>
          <a:xfrm>
            <a:off x="11150600" y="3302000"/>
            <a:ext cx="127000" cy="685800"/>
          </a:xfrm>
          <a:prstGeom prst="rect">
            <a:avLst/>
          </a:prstGeom>
          <a:solidFill>
            <a:srgbClr val="CA6F1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4" name="t14"/>
          <p:cNvSpPr txBox="1"/>
          <p:nvPr/>
        </p:nvSpPr>
        <p:spPr>
          <a:xfrm>
            <a:off x="10642600" y="34544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2200" b="1" dirty="0">
                <a:solidFill>
                  <a:srgbClr val="CA6F1E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6604000" y="34290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אין רופא בצוות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6604000" y="36830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וזה הגבול הרגיש ביותר במוצר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1117600" y="3556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CA6F1E"/>
                </a:solidFill>
                <a:latin typeface="Segoe UI"/>
                <a:cs typeface="Segoe UI"/>
              </a:rPr>
              <a:t>מכם: רופא כיועץ למוצר</a:t>
            </a:r>
          </a:p>
        </p:txBody>
      </p:sp>
      <p:sp>
        <p:nvSpPr>
          <p:cNvPr id="18" name="s18"/>
          <p:cNvSpPr/>
          <p:nvPr/>
        </p:nvSpPr>
        <p:spPr>
          <a:xfrm>
            <a:off x="812800" y="4064000"/>
            <a:ext cx="10464800" cy="685800"/>
          </a:xfrm>
          <a:prstGeom prst="rect">
            <a:avLst/>
          </a:prstGeom>
          <a:solidFill>
            <a:srgbClr val="FDF0E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9" name="s19"/>
          <p:cNvSpPr/>
          <p:nvPr/>
        </p:nvSpPr>
        <p:spPr>
          <a:xfrm>
            <a:off x="11150600" y="4064000"/>
            <a:ext cx="127000" cy="685800"/>
          </a:xfrm>
          <a:prstGeom prst="rect">
            <a:avLst/>
          </a:prstGeom>
          <a:solidFill>
            <a:srgbClr val="CA6F1E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0" name="t20"/>
          <p:cNvSpPr txBox="1"/>
          <p:nvPr/>
        </p:nvSpPr>
        <p:spPr>
          <a:xfrm>
            <a:off x="10642600" y="42164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2200" b="1" dirty="0">
                <a:solidFill>
                  <a:srgbClr val="CA6F1E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604000" y="41910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אין נתוני אימות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6604000" y="44450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הכול עדיין השערה, כולל הבידול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1117600" y="4318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CA6F1E"/>
                </a:solidFill>
                <a:latin typeface="Segoe UI"/>
                <a:cs typeface="Segoe UI"/>
              </a:rPr>
              <a:t>מכם: 20 משפחות לאומית לפיילוט מדיד</a:t>
            </a:r>
          </a:p>
        </p:txBody>
      </p:sp>
      <p:sp>
        <p:nvSpPr>
          <p:cNvPr id="24" name="s24"/>
          <p:cNvSpPr/>
          <p:nvPr/>
        </p:nvSpPr>
        <p:spPr>
          <a:xfrm>
            <a:off x="812800" y="4826000"/>
            <a:ext cx="10464800" cy="685800"/>
          </a:xfrm>
          <a:prstGeom prst="rect">
            <a:avLst/>
          </a:prstGeom>
          <a:solidFill>
            <a:srgbClr val="FCF7D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5" name="s25"/>
          <p:cNvSpPr/>
          <p:nvPr/>
        </p:nvSpPr>
        <p:spPr>
          <a:xfrm>
            <a:off x="11150600" y="4826000"/>
            <a:ext cx="127000" cy="685800"/>
          </a:xfrm>
          <a:prstGeom prst="rect">
            <a:avLst/>
          </a:prstGeom>
          <a:solidFill>
            <a:srgbClr val="9A7D0A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6" name="t26"/>
          <p:cNvSpPr txBox="1"/>
          <p:nvPr/>
        </p:nvSpPr>
        <p:spPr>
          <a:xfrm>
            <a:off x="10642600" y="49784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2200" b="1" dirty="0">
                <a:solidFill>
                  <a:srgbClr val="9A7D0A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6604000" y="49530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חילוץ הפעולה מתוך הסיכום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6604000" y="52070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רופאי הקופות מדפיסים — הקריאה כמעט פתורה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1117600" y="5080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9A7D0A"/>
                </a:solidFill>
                <a:latin typeface="Segoe UI"/>
                <a:cs typeface="Segoe UI"/>
              </a:rPr>
              <a:t>מכם: סיכומים אנונימיים לבדיקת חילוץ אמיתית</a:t>
            </a:r>
          </a:p>
        </p:txBody>
      </p:sp>
      <p:sp>
        <p:nvSpPr>
          <p:cNvPr id="30" name="s30"/>
          <p:cNvSpPr/>
          <p:nvPr/>
        </p:nvSpPr>
        <p:spPr>
          <a:xfrm>
            <a:off x="812800" y="5588000"/>
            <a:ext cx="10464800" cy="685800"/>
          </a:xfrm>
          <a:prstGeom prst="rect">
            <a:avLst/>
          </a:prstGeom>
          <a:solidFill>
            <a:srgbClr val="FCF7DF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1" name="s31"/>
          <p:cNvSpPr/>
          <p:nvPr/>
        </p:nvSpPr>
        <p:spPr>
          <a:xfrm>
            <a:off x="11150600" y="5588000"/>
            <a:ext cx="127000" cy="685800"/>
          </a:xfrm>
          <a:prstGeom prst="rect">
            <a:avLst/>
          </a:prstGeom>
          <a:solidFill>
            <a:srgbClr val="9A7D0A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32" name="t32"/>
          <p:cNvSpPr txBox="1"/>
          <p:nvPr/>
        </p:nvSpPr>
        <p:spPr>
          <a:xfrm>
            <a:off x="10642600" y="5740400"/>
            <a:ext cx="406400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2200" b="1" dirty="0">
                <a:solidFill>
                  <a:srgbClr val="9A7D0A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6604000" y="57150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101718"/>
                </a:solidFill>
                <a:latin typeface="Segoe UI"/>
                <a:cs typeface="Segoe UI"/>
              </a:rPr>
              <a:t>הגבול הרגולטורי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6604000" y="59690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100" b="0" dirty="0">
                <a:solidFill>
                  <a:srgbClr val="63736F"/>
                </a:solidFill>
                <a:latin typeface="Segoe UI"/>
                <a:cs typeface="Segoe UI"/>
              </a:rPr>
              <a:t>כלי ארגון או מכשיר רפואי?</a:t>
            </a:r>
          </a:p>
        </p:txBody>
      </p:sp>
      <p:sp>
        <p:nvSpPr>
          <p:cNvPr id="35" name="t35"/>
          <p:cNvSpPr txBox="1"/>
          <p:nvPr/>
        </p:nvSpPr>
        <p:spPr>
          <a:xfrm>
            <a:off x="1117600" y="5842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9A7D0A"/>
                </a:solidFill>
                <a:latin typeface="Segoe UI"/>
                <a:cs typeface="Segoe UI"/>
              </a:rPr>
              <a:t>מכם: ליווי רגולטורי והלסינקי</a:t>
            </a:r>
          </a:p>
        </p:txBody>
      </p:sp>
      <p:pic>
        <p:nvPicPr>
          <p:cNvPr id="36" name="p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81000"/>
            <a:ext cx="558800" cy="558800"/>
          </a:xfrm>
          <a:prstGeom prst="rect">
            <a:avLst/>
          </a:prstGeom>
        </p:spPr>
      </p:pic>
      <p:sp>
        <p:nvSpPr>
          <p:cNvPr id="37" name="t37"/>
          <p:cNvSpPr txBox="1"/>
          <p:nvPr/>
        </p:nvSpPr>
        <p:spPr>
          <a:xfrm>
            <a:off x="812800" y="6426200"/>
            <a:ext cx="2794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rtl="0"/>
            <a:r>
              <a:rPr lang="en-US" sz="900" b="0" dirty="0">
                <a:solidFill>
                  <a:srgbClr val="63736F"/>
                </a:solidFill>
                <a:latin typeface="Segoe UI"/>
                <a:cs typeface="Segoe UI"/>
              </a:rPr>
              <a:t>13  /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3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pic>
        <p:nvPicPr>
          <p:cNvPr id="3" name="p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0" y="584200"/>
            <a:ext cx="812800" cy="8128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812800" y="8382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1" dirty="0">
                <a:solidFill>
                  <a:srgbClr val="2FAE8E"/>
                </a:solidFill>
                <a:latin typeface="Segoe UI"/>
                <a:cs typeface="Segoe UI"/>
              </a:rPr>
              <a:t>הבקשה</a:t>
            </a:r>
          </a:p>
        </p:txBody>
      </p:sp>
      <p:sp>
        <p:nvSpPr>
          <p:cNvPr id="5" name="t5"/>
          <p:cNvSpPr txBox="1"/>
          <p:nvPr/>
        </p:nvSpPr>
        <p:spPr>
          <a:xfrm>
            <a:off x="812800" y="1168400"/>
            <a:ext cx="9144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2800" b="1" dirty="0">
                <a:solidFill>
                  <a:srgbClr val="FFFFFF"/>
                </a:solidFill>
                <a:latin typeface="Segoe UI"/>
                <a:cs typeface="Segoe UI"/>
              </a:rPr>
              <a:t>אני לא מבקש כסף. אני מבקש שלושה דברים.</a:t>
            </a:r>
          </a:p>
        </p:txBody>
      </p:sp>
      <p:sp>
        <p:nvSpPr>
          <p:cNvPr id="6" name="s6"/>
          <p:cNvSpPr/>
          <p:nvPr/>
        </p:nvSpPr>
        <p:spPr>
          <a:xfrm>
            <a:off x="812800" y="2133600"/>
            <a:ext cx="10464800" cy="1066800"/>
          </a:xfrm>
          <a:prstGeom prst="rect">
            <a:avLst/>
          </a:prstGeom>
          <a:solidFill>
            <a:srgbClr val="123A3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7" name="t7"/>
          <p:cNvSpPr txBox="1"/>
          <p:nvPr/>
        </p:nvSpPr>
        <p:spPr>
          <a:xfrm>
            <a:off x="10515600" y="2413000"/>
            <a:ext cx="55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2600" b="1" dirty="0">
                <a:solidFill>
                  <a:srgbClr val="2FAE8E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" name="t8"/>
          <p:cNvSpPr txBox="1"/>
          <p:nvPr/>
        </p:nvSpPr>
        <p:spPr>
          <a:xfrm>
            <a:off x="1168400" y="2311400"/>
            <a:ext cx="9093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700" b="1" dirty="0">
                <a:solidFill>
                  <a:srgbClr val="FFFFFF"/>
                </a:solidFill>
                <a:latin typeface="Segoe UI"/>
                <a:cs typeface="Segoe UI"/>
              </a:rPr>
              <a:t>יועץ רפואי — רופא</a:t>
            </a:r>
          </a:p>
        </p:txBody>
      </p:sp>
      <p:sp>
        <p:nvSpPr>
          <p:cNvPr id="9" name="t9"/>
          <p:cNvSpPr txBox="1"/>
          <p:nvPr/>
        </p:nvSpPr>
        <p:spPr>
          <a:xfrm>
            <a:off x="1168400" y="2667000"/>
            <a:ext cx="90932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8FA19C"/>
                </a:solidFill>
                <a:latin typeface="Segoe UI"/>
                <a:cs typeface="Segoe UI"/>
              </a:rPr>
              <a:t>שיחה בשבוע. זה מה שהופך את גבול הבטיחות שלנו מהצהרה לתהליך.</a:t>
            </a:r>
          </a:p>
        </p:txBody>
      </p:sp>
      <p:sp>
        <p:nvSpPr>
          <p:cNvPr id="10" name="s10"/>
          <p:cNvSpPr/>
          <p:nvPr/>
        </p:nvSpPr>
        <p:spPr>
          <a:xfrm>
            <a:off x="812800" y="3327400"/>
            <a:ext cx="10464800" cy="1066800"/>
          </a:xfrm>
          <a:prstGeom prst="rect">
            <a:avLst/>
          </a:prstGeom>
          <a:solidFill>
            <a:srgbClr val="123A3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" name="t11"/>
          <p:cNvSpPr txBox="1"/>
          <p:nvPr/>
        </p:nvSpPr>
        <p:spPr>
          <a:xfrm>
            <a:off x="10515600" y="3606800"/>
            <a:ext cx="55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2600" b="1" dirty="0">
                <a:solidFill>
                  <a:srgbClr val="2FAE8E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1168400" y="3505200"/>
            <a:ext cx="9093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700" b="1" dirty="0">
                <a:solidFill>
                  <a:srgbClr val="FFFFFF"/>
                </a:solidFill>
                <a:latin typeface="Segoe UI"/>
                <a:cs typeface="Segoe UI"/>
              </a:rPr>
              <a:t>עשרים משפחות לאומית לפיילוט מדיד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168400" y="3860800"/>
            <a:ext cx="90932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8FA19C"/>
                </a:solidFill>
                <a:latin typeface="Segoe UI"/>
                <a:cs typeface="Segoe UI"/>
              </a:rPr>
              <a:t>לא סקר דעה. המדד: כמה מהן מכניסות אותנו פנימה — מסמך אמיתי היום, והסכמה לחיבור הקופה כשייפתח.</a:t>
            </a:r>
          </a:p>
        </p:txBody>
      </p:sp>
      <p:sp>
        <p:nvSpPr>
          <p:cNvPr id="14" name="s14"/>
          <p:cNvSpPr/>
          <p:nvPr/>
        </p:nvSpPr>
        <p:spPr>
          <a:xfrm>
            <a:off x="812800" y="4521200"/>
            <a:ext cx="10464800" cy="1066800"/>
          </a:xfrm>
          <a:prstGeom prst="rect">
            <a:avLst/>
          </a:prstGeom>
          <a:solidFill>
            <a:srgbClr val="123A3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5" name="t15"/>
          <p:cNvSpPr txBox="1"/>
          <p:nvPr/>
        </p:nvSpPr>
        <p:spPr>
          <a:xfrm>
            <a:off x="10515600" y="4800600"/>
            <a:ext cx="5588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rtl="1"/>
            <a:r>
              <a:rPr lang="he-IL" sz="2600" b="1" dirty="0">
                <a:solidFill>
                  <a:srgbClr val="2FAE8E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168400" y="4699000"/>
            <a:ext cx="9093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700" b="1" dirty="0">
                <a:solidFill>
                  <a:srgbClr val="FFFFFF"/>
                </a:solidFill>
                <a:latin typeface="Segoe UI"/>
                <a:cs typeface="Segoe UI"/>
              </a:rPr>
              <a:t>הכוונה על מסלול הרישוי לפי חוק הניוד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1168400" y="5054600"/>
            <a:ext cx="90932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200" b="0" dirty="0">
                <a:solidFill>
                  <a:srgbClr val="8FA19C"/>
                </a:solidFill>
                <a:latin typeface="Segoe UI"/>
                <a:cs typeface="Segoe UI"/>
              </a:rPr>
              <a:t>אתם חיים את החוק הזה. אנחנו צריכים לדעת מה נדרש מאיתנו, ומתי.</a:t>
            </a:r>
          </a:p>
        </p:txBody>
      </p:sp>
      <p:sp>
        <p:nvSpPr>
          <p:cNvPr id="18" name="s18"/>
          <p:cNvSpPr/>
          <p:nvPr/>
        </p:nvSpPr>
        <p:spPr>
          <a:xfrm>
            <a:off x="812800" y="5918200"/>
            <a:ext cx="10464800" cy="12700"/>
          </a:xfrm>
          <a:prstGeom prst="rect">
            <a:avLst/>
          </a:prstGeom>
          <a:solidFill>
            <a:srgbClr val="DCE4E2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9" name="t19"/>
          <p:cNvSpPr txBox="1"/>
          <p:nvPr/>
        </p:nvSpPr>
        <p:spPr>
          <a:xfrm>
            <a:off x="812800" y="6096000"/>
            <a:ext cx="10464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rtl="1"/>
            <a:r>
              <a:rPr lang="he-IL" sz="1400" b="1" dirty="0">
                <a:solidFill>
                  <a:srgbClr val="2FAE8E"/>
                </a:solidFill>
                <a:latin typeface="Segoe UI"/>
                <a:cs typeface="Segoe UI"/>
              </a:rPr>
              <a:t>ואם שלושת אלה יעבדו — נדע תוך שישים יום אם למוצר הזה יש בכלל זכות קיום.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LANO">
  <a:themeElements>
    <a:clrScheme name="ILANO">
      <a:dk1>
        <a:srgbClr val="101718"/>
      </a:dk1>
      <a:lt1>
        <a:srgbClr val="FFFFFF"/>
      </a:lt1>
      <a:dk2>
        <a:srgbClr val="0C1213"/>
      </a:dk2>
      <a:lt2>
        <a:srgbClr val="F2F5F4"/>
      </a:lt2>
      <a:accent1>
        <a:srgbClr val="12857A"/>
      </a:accent1>
      <a:accent2>
        <a:srgbClr val="B03A2E"/>
      </a:accent2>
      <a:accent3>
        <a:srgbClr val="CA6F1E"/>
      </a:accent3>
      <a:accent4>
        <a:srgbClr val="9A7D0A"/>
      </a:accent4>
      <a:accent5>
        <a:srgbClr val="1E8449"/>
      </a:accent5>
      <a:accent6>
        <a:srgbClr val="63736F"/>
      </a:accent6>
      <a:hlink>
        <a:srgbClr val="12857A"/>
      </a:hlink>
      <a:folHlink>
        <a:srgbClr val="63736F"/>
      </a:folHlink>
    </a:clrScheme>
    <a:fontScheme name="ILANO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ILAN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