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pic>
        <p:nvPicPr>
          <p:cNvPr id="3" name="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1905000"/>
            <a:ext cx="6096000" cy="16002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812800" y="3810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200" b="0" dirty="0">
                <a:solidFill>
                  <a:srgbClr val="2FAE8E"/>
                </a:solidFill>
                <a:latin typeface="Segoe UI"/>
                <a:cs typeface="Segoe UI"/>
              </a:rPr>
              <a:t>המערכת שמנהלת את הבריאות של כל המשפחה — במקום אחד.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439420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8FA19C"/>
                </a:solidFill>
                <a:latin typeface="Segoe UI"/>
                <a:cs typeface="Segoe UI"/>
              </a:rPr>
              <a:t>לא יומן. לא תיק רפואי. סוכן שמבין מה קרה, יודע מה צריך לקרות, ולא נותן לזה ליפול.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812800" y="5918200"/>
            <a:ext cx="10566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8FA19C"/>
                </a:solidFill>
                <a:latin typeface="Segoe UI"/>
                <a:cs typeface="Segoe UI"/>
              </a:rPr>
              <a:t>מסמך מוצר  ·  אוגוסט 2026  ·  חסוי  ·  אין חיבור לאף ספק בריאות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הבעיה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בכל משפחה יש אדם אחד שמחזיק את הכול בראש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המידע שהוא צריך פזור בין שלוש קופות, כמה אפליקציות וערימת מסמכים בתיק.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1016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רונית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16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38  ·  מנהלת חשבונות</a:t>
            </a:r>
          </a:p>
        </p:txBody>
      </p:sp>
      <p:sp>
        <p:nvSpPr>
          <p:cNvPr id="9" name="s9"/>
          <p:cNvSpPr/>
          <p:nvPr/>
        </p:nvSpPr>
        <p:spPr>
          <a:xfrm>
            <a:off x="1016000" y="3657600"/>
            <a:ext cx="1219200" cy="330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016000" y="37084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מאוחדת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16000" y="41402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מנהלת את כולם</a:t>
            </a:r>
          </a:p>
        </p:txBody>
      </p:sp>
      <p:sp>
        <p:nvSpPr>
          <p:cNvPr id="12" name="s12"/>
          <p:cNvSpPr/>
          <p:nvPr/>
        </p:nvSpPr>
        <p:spPr>
          <a:xfrm>
            <a:off x="3479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3683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אסף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3683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41  ·  טכנאי</a:t>
            </a:r>
          </a:p>
        </p:txBody>
      </p:sp>
      <p:sp>
        <p:nvSpPr>
          <p:cNvPr id="15" name="s15"/>
          <p:cNvSpPr/>
          <p:nvPr/>
        </p:nvSpPr>
        <p:spPr>
          <a:xfrm>
            <a:off x="3683000" y="3657600"/>
            <a:ext cx="1219200" cy="330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3683000" y="37084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מכבי</a:t>
            </a:r>
          </a:p>
        </p:txBody>
      </p:sp>
      <p:sp>
        <p:nvSpPr>
          <p:cNvPr id="17" name="s17"/>
          <p:cNvSpPr/>
          <p:nvPr/>
        </p:nvSpPr>
        <p:spPr>
          <a:xfrm>
            <a:off x="6146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8" name="t18"/>
          <p:cNvSpPr txBox="1"/>
          <p:nvPr/>
        </p:nvSpPr>
        <p:spPr>
          <a:xfrm>
            <a:off x="6350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דניאל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350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7  ·  כיתה ב׳</a:t>
            </a:r>
          </a:p>
        </p:txBody>
      </p:sp>
      <p:sp>
        <p:nvSpPr>
          <p:cNvPr id="20" name="s20"/>
          <p:cNvSpPr/>
          <p:nvPr/>
        </p:nvSpPr>
        <p:spPr>
          <a:xfrm>
            <a:off x="6350000" y="3657600"/>
            <a:ext cx="1219200" cy="330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1" name="t21"/>
          <p:cNvSpPr txBox="1"/>
          <p:nvPr/>
        </p:nvSpPr>
        <p:spPr>
          <a:xfrm>
            <a:off x="6350000" y="37084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22" name="s22"/>
          <p:cNvSpPr/>
          <p:nvPr/>
        </p:nvSpPr>
        <p:spPr>
          <a:xfrm>
            <a:off x="8813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23"/>
          <p:cNvSpPr txBox="1"/>
          <p:nvPr/>
        </p:nvSpPr>
        <p:spPr>
          <a:xfrm>
            <a:off x="9017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מאיה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9017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3  ·  גן</a:t>
            </a:r>
          </a:p>
        </p:txBody>
      </p:sp>
      <p:sp>
        <p:nvSpPr>
          <p:cNvPr id="25" name="s25"/>
          <p:cNvSpPr/>
          <p:nvPr/>
        </p:nvSpPr>
        <p:spPr>
          <a:xfrm>
            <a:off x="9017000" y="3657600"/>
            <a:ext cx="1219200" cy="330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" name="t26"/>
          <p:cNvSpPr txBox="1"/>
          <p:nvPr/>
        </p:nvSpPr>
        <p:spPr>
          <a:xfrm>
            <a:off x="9017000" y="37084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27" name="s27"/>
          <p:cNvSpPr/>
          <p:nvPr/>
        </p:nvSpPr>
        <p:spPr>
          <a:xfrm>
            <a:off x="812800" y="5029200"/>
            <a:ext cx="10464800" cy="7874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8" name="t28"/>
          <p:cNvSpPr txBox="1"/>
          <p:nvPr/>
        </p:nvSpPr>
        <p:spPr>
          <a:xfrm>
            <a:off x="1117600" y="51816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700" b="1" dirty="0">
                <a:solidFill>
                  <a:srgbClr val="0B5F58"/>
                </a:solidFill>
                <a:latin typeface="Segoe UI"/>
                <a:cs typeface="Segoe UI"/>
              </a:rPr>
              <a:t>שלוש קופות שונות תחת קורת גג אחת.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1117600" y="54864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0" dirty="0">
                <a:solidFill>
                  <a:srgbClr val="12857A"/>
                </a:solidFill>
                <a:latin typeface="Segoe UI"/>
                <a:cs typeface="Segoe UI"/>
              </a:rPr>
              <a:t>אין היום מערכת אחת — לא ממשלתית ולא פרטית — שרואה את ארבעתם יחד.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812800" y="5994400"/>
            <a:ext cx="1046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63736F"/>
                </a:solidFill>
                <a:latin typeface="Segoe UI"/>
                <a:cs typeface="Segoe UI"/>
              </a:rPr>
              <a:t>משפחת לוי היא דוגמה בדויה שנבנתה להמחשה.</a:t>
            </a:r>
          </a:p>
        </p:txBody>
      </p:sp>
      <p:pic>
        <p:nvPicPr>
          <p:cNvPr id="31" name="p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32" name="t32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02  /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הבעיה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שנה אחת. שלוש המלצות רופא. אף אחת לא בוצעה.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184400"/>
            <a:ext cx="5969000" cy="3810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t6"/>
          <p:cNvSpPr txBox="1"/>
          <p:nvPr/>
        </p:nvSpPr>
        <p:spPr>
          <a:xfrm>
            <a:off x="5765800" y="24130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12857A"/>
                </a:solidFill>
                <a:latin typeface="Segoe UI"/>
                <a:cs typeface="Segoe UI"/>
              </a:rPr>
              <a:t>12.3</a:t>
            </a:r>
          </a:p>
        </p:txBody>
      </p:sp>
      <p:sp>
        <p:nvSpPr>
          <p:cNvPr id="7" name="t7"/>
          <p:cNvSpPr txBox="1"/>
          <p:nvPr/>
        </p:nvSpPr>
        <p:spPr>
          <a:xfrm>
            <a:off x="1066800" y="2692400"/>
            <a:ext cx="4622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דניאל אצל רופאת השיניים. ״תחזרו לביקורת בעוד חצי שנה.״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הפתק נכנס לתיק ולא יצא ממנו.</a:t>
            </a:r>
          </a:p>
        </p:txBody>
      </p:sp>
      <p:sp>
        <p:nvSpPr>
          <p:cNvPr id="8" name="t8"/>
          <p:cNvSpPr txBox="1"/>
          <p:nvPr/>
        </p:nvSpPr>
        <p:spPr>
          <a:xfrm>
            <a:off x="5765800" y="33528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12857A"/>
                </a:solidFill>
                <a:latin typeface="Segoe UI"/>
                <a:cs typeface="Segoe UI"/>
              </a:rPr>
              <a:t>4.4</a:t>
            </a:r>
          </a:p>
        </p:txBody>
      </p:sp>
      <p:sp>
        <p:nvSpPr>
          <p:cNvPr id="9" name="t9"/>
          <p:cNvSpPr txBox="1"/>
          <p:nvPr/>
        </p:nvSpPr>
        <p:spPr>
          <a:xfrm>
            <a:off x="1066800" y="3632200"/>
            <a:ext cx="4622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מאיה בבדיקת שלוש. האחות ממליצה על בדיקת שמיעה.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רונית מקלידה תזכורת. היא נבלעת ברשימה תוך שבוע.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5765800" y="42926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12857A"/>
                </a:solidFill>
                <a:latin typeface="Segoe UI"/>
                <a:cs typeface="Segoe UI"/>
              </a:rPr>
              <a:t>22.5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66800" y="4572000"/>
            <a:ext cx="4622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בדיקות דם של אסף. ערך גבולי, ״לחזור בעוד שלושה חודשים.״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הסיכום נשלח למייל שנקרא פעם בחודש.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765800" y="52578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63736F"/>
                </a:solidFill>
                <a:latin typeface="Segoe UI"/>
                <a:cs typeface="Segoe UI"/>
              </a:rPr>
              <a:t>19.8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066800" y="55372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רונית מנסה להיזכר אם נותר משהו פתוח.</a:t>
            </a:r>
          </a:p>
        </p:txBody>
      </p:sp>
      <p:sp>
        <p:nvSpPr>
          <p:cNvPr id="14" name="s14"/>
          <p:cNvSpPr/>
          <p:nvPr/>
        </p:nvSpPr>
        <p:spPr>
          <a:xfrm>
            <a:off x="7035800" y="2184400"/>
            <a:ext cx="4241800" cy="38100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s15"/>
          <p:cNvSpPr/>
          <p:nvPr/>
        </p:nvSpPr>
        <p:spPr>
          <a:xfrm>
            <a:off x="11150600" y="2184400"/>
            <a:ext cx="127000" cy="3810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7289800" y="24384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B03A2E"/>
                </a:solidFill>
                <a:latin typeface="Segoe UI"/>
                <a:cs typeface="Segoe UI"/>
              </a:rPr>
              <a:t>המצב באוגוסט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289800" y="29718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בדיקת שמיעה — מאיה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289800" y="32512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B03A2E"/>
                </a:solidFill>
                <a:latin typeface="Segoe UI"/>
                <a:cs typeface="Segoe UI"/>
              </a:rPr>
              <a:t>ארבעה חודשי איחור. נשכח.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289800" y="37846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חזרה על בדיקת דם — אסף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289800" y="40640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B03A2E"/>
                </a:solidFill>
                <a:latin typeface="Segoe UI"/>
                <a:cs typeface="Segoe UI"/>
              </a:rPr>
              <a:t>המועד חל החודש. המייל לא נפתח.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7289800" y="45974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ביקורת שיניים — דניאל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289800" y="48768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B03A2E"/>
                </a:solidFill>
                <a:latin typeface="Segoe UI"/>
                <a:cs typeface="Segoe UI"/>
              </a:rPr>
              <a:t>הפתק אבד. איש לא ייזכר עד שיכאב.</a:t>
            </a:r>
          </a:p>
        </p:txBody>
      </p:sp>
      <p:sp>
        <p:nvSpPr>
          <p:cNvPr id="23" name="s23"/>
          <p:cNvSpPr/>
          <p:nvPr/>
        </p:nvSpPr>
        <p:spPr>
          <a:xfrm>
            <a:off x="7289800" y="5384800"/>
            <a:ext cx="36576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t24"/>
          <p:cNvSpPr txBox="1"/>
          <p:nvPr/>
        </p:nvSpPr>
        <p:spPr>
          <a:xfrm>
            <a:off x="7289800" y="55118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B03A2E"/>
                </a:solidFill>
                <a:latin typeface="Segoe UI"/>
                <a:cs typeface="Segoe UI"/>
              </a:rPr>
              <a:t>איש מהם לא התרשל.</a:t>
            </a:r>
          </a:p>
        </p:txBody>
      </p:sp>
      <p:pic>
        <p:nvPicPr>
          <p:cNvPr id="25" name="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6" name="t26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03  /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s3"/>
          <p:cNvSpPr/>
          <p:nvPr/>
        </p:nvSpPr>
        <p:spPr>
          <a:xfrm>
            <a:off x="11023600" y="2489200"/>
            <a:ext cx="50800" cy="1905000"/>
          </a:xfrm>
          <a:prstGeom prst="rect">
            <a:avLst/>
          </a:prstGeom>
          <a:solidFill>
            <a:srgbClr val="2FAE8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t4"/>
          <p:cNvSpPr txBox="1"/>
          <p:nvPr/>
        </p:nvSpPr>
        <p:spPr>
          <a:xfrm>
            <a:off x="1778000" y="2413000"/>
            <a:ext cx="9144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35000"/>
              </a:lnSpc>
            </a:pPr>
            <a:r>
              <a:rPr lang="he-IL" sz="2700" b="0" dirty="0">
                <a:solidFill>
                  <a:srgbClr val="FFFFFF"/>
                </a:solidFill>
                <a:latin typeface="Segoe UI"/>
                <a:cs typeface="Segoe UI"/>
              </a:rPr>
              <a:t>שלוש ההמלצות ניתנו כראוי, תועדו כראוי ונשלחו כראוי.</a:t>
            </a:r>
          </a:p>
          <a:p>
            <a:pPr algn="r" rtl="1">
              <a:lnSpc>
                <a:spcPct val="135000"/>
              </a:lnSpc>
            </a:pPr>
            <a:endParaRPr lang="he-IL" sz="2700"/>
          </a:p>
          <a:p>
            <a:pPr algn="r" rtl="1">
              <a:lnSpc>
                <a:spcPct val="135000"/>
              </a:lnSpc>
            </a:pPr>
            <a:r>
              <a:rPr lang="he-IL" sz="2700" b="0" dirty="0">
                <a:solidFill>
                  <a:srgbClr val="FFFFFF"/>
                </a:solidFill>
                <a:latin typeface="Segoe UI"/>
                <a:cs typeface="Segoe UI"/>
              </a:rPr>
              <a:t>מה שחסר הוא מקום אחד שמחזיק אותן יחד</a:t>
            </a:r>
          </a:p>
          <a:p>
            <a:pPr algn="r" rtl="1">
              <a:lnSpc>
                <a:spcPct val="135000"/>
              </a:lnSpc>
            </a:pPr>
            <a:r>
              <a:rPr lang="he-IL" sz="2700" b="0" dirty="0">
                <a:solidFill>
                  <a:srgbClr val="FFFFFF"/>
                </a:solidFill>
                <a:latin typeface="Segoe UI"/>
                <a:cs typeface="Segoe UI"/>
              </a:rPr>
              <a:t>ודוחף אותן קדימה.</a:t>
            </a:r>
          </a:p>
        </p:txBody>
      </p:sp>
      <p:sp>
        <p:nvSpPr>
          <p:cNvPr id="5" name="t5"/>
          <p:cNvSpPr txBox="1"/>
          <p:nvPr/>
        </p:nvSpPr>
        <p:spPr>
          <a:xfrm>
            <a:off x="1778000" y="4876800"/>
            <a:ext cx="9144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0" dirty="0">
                <a:solidFill>
                  <a:srgbClr val="2FAE8E"/>
                </a:solidFill>
                <a:latin typeface="Segoe UI"/>
                <a:cs typeface="Segoe UI"/>
              </a:rPr>
              <a:t>זו איננה בעיה של מוטיבציה. זו בעיה של ארכיטקטורה.</a:t>
            </a:r>
          </a:p>
        </p:txBody>
      </p:sp>
      <p:pic>
        <p:nvPicPr>
          <p:cNvPr id="6" name="p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השוק הישראלי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משפחה אחת. חמש מערכות בריאות.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בישראל, בני משפחה אחת מבוטחים לא פעם בקופות שונות — ולכל אחת אפליקציה, ממשק וזהות משלה.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717800"/>
            <a:ext cx="1981200" cy="1219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965200" y="2997200"/>
            <a:ext cx="1676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700" b="1" dirty="0">
                <a:solidFill>
                  <a:srgbClr val="101718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8" name="t8"/>
          <p:cNvSpPr txBox="1"/>
          <p:nvPr/>
        </p:nvSpPr>
        <p:spPr>
          <a:xfrm>
            <a:off x="965200" y="3378200"/>
            <a:ext cx="167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12857A"/>
                </a:solidFill>
                <a:latin typeface="Segoe UI"/>
                <a:cs typeface="Segoe UI"/>
              </a:rPr>
              <a:t>דניאל  ·  מאיה</a:t>
            </a:r>
          </a:p>
        </p:txBody>
      </p:sp>
      <p:sp>
        <p:nvSpPr>
          <p:cNvPr id="9" name="s9"/>
          <p:cNvSpPr/>
          <p:nvPr/>
        </p:nvSpPr>
        <p:spPr>
          <a:xfrm>
            <a:off x="2946400" y="2717800"/>
            <a:ext cx="1981200" cy="1219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3098800" y="2997200"/>
            <a:ext cx="1676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700" b="1" dirty="0">
                <a:solidFill>
                  <a:srgbClr val="101718"/>
                </a:solidFill>
                <a:latin typeface="Segoe UI"/>
                <a:cs typeface="Segoe UI"/>
              </a:rPr>
              <a:t>מכבי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3098800" y="3378200"/>
            <a:ext cx="167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12857A"/>
                </a:solidFill>
                <a:latin typeface="Segoe UI"/>
                <a:cs typeface="Segoe UI"/>
              </a:rPr>
              <a:t>אסף</a:t>
            </a:r>
          </a:p>
        </p:txBody>
      </p:sp>
      <p:sp>
        <p:nvSpPr>
          <p:cNvPr id="12" name="s12"/>
          <p:cNvSpPr/>
          <p:nvPr/>
        </p:nvSpPr>
        <p:spPr>
          <a:xfrm>
            <a:off x="5080000" y="2717800"/>
            <a:ext cx="1981200" cy="1219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5232400" y="2997200"/>
            <a:ext cx="1676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700" b="1" dirty="0">
                <a:solidFill>
                  <a:srgbClr val="101718"/>
                </a:solidFill>
                <a:latin typeface="Segoe UI"/>
                <a:cs typeface="Segoe UI"/>
              </a:rPr>
              <a:t>מאוחדת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5232400" y="3378200"/>
            <a:ext cx="167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12857A"/>
                </a:solidFill>
                <a:latin typeface="Segoe UI"/>
                <a:cs typeface="Segoe UI"/>
              </a:rPr>
              <a:t>רונית</a:t>
            </a:r>
          </a:p>
        </p:txBody>
      </p:sp>
      <p:sp>
        <p:nvSpPr>
          <p:cNvPr id="15" name="s15"/>
          <p:cNvSpPr/>
          <p:nvPr/>
        </p:nvSpPr>
        <p:spPr>
          <a:xfrm>
            <a:off x="7213600" y="2717800"/>
            <a:ext cx="1981200" cy="1219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7366000" y="2997200"/>
            <a:ext cx="1676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700" b="1" dirty="0">
                <a:solidFill>
                  <a:srgbClr val="101718"/>
                </a:solidFill>
                <a:latin typeface="Segoe UI"/>
                <a:cs typeface="Segoe UI"/>
              </a:rPr>
              <a:t>לאומית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366000" y="3378200"/>
            <a:ext cx="167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12857A"/>
                </a:solidFill>
                <a:latin typeface="Segoe UI"/>
                <a:cs typeface="Segoe UI"/>
              </a:rPr>
              <a:t>סבתא חנה</a:t>
            </a:r>
          </a:p>
        </p:txBody>
      </p:sp>
      <p:sp>
        <p:nvSpPr>
          <p:cNvPr id="18" name="s18"/>
          <p:cNvSpPr/>
          <p:nvPr/>
        </p:nvSpPr>
        <p:spPr>
          <a:xfrm>
            <a:off x="9347200" y="2717800"/>
            <a:ext cx="1930400" cy="1219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t19"/>
          <p:cNvSpPr txBox="1"/>
          <p:nvPr/>
        </p:nvSpPr>
        <p:spPr>
          <a:xfrm>
            <a:off x="9499600" y="2997200"/>
            <a:ext cx="1625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700" b="1" dirty="0">
                <a:solidFill>
                  <a:srgbClr val="101718"/>
                </a:solidFill>
                <a:latin typeface="Segoe UI"/>
                <a:cs typeface="Segoe UI"/>
              </a:rPr>
              <a:t>צה״ל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9499600" y="3378200"/>
            <a:ext cx="1625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12857A"/>
                </a:solidFill>
                <a:latin typeface="Segoe UI"/>
                <a:cs typeface="Segoe UI"/>
              </a:rPr>
              <a:t>יובל, בסדיר</a:t>
            </a:r>
          </a:p>
        </p:txBody>
      </p:sp>
      <p:sp>
        <p:nvSpPr>
          <p:cNvPr id="21" name="s21"/>
          <p:cNvSpPr/>
          <p:nvPr/>
        </p:nvSpPr>
        <p:spPr>
          <a:xfrm>
            <a:off x="812800" y="4267200"/>
            <a:ext cx="10464800" cy="838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t22"/>
          <p:cNvSpPr txBox="1"/>
          <p:nvPr/>
        </p:nvSpPr>
        <p:spPr>
          <a:xfrm>
            <a:off x="1117600" y="44450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700" b="1" dirty="0">
                <a:solidFill>
                  <a:srgbClr val="0B5F58"/>
                </a:solidFill>
                <a:latin typeface="Segoe UI"/>
                <a:cs typeface="Segoe UI"/>
              </a:rPr>
              <a:t>ILANO היא השכבה הראשונה שמציגה את כולם כמשפחה אחת.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117600" y="47752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0" dirty="0">
                <a:solidFill>
                  <a:srgbClr val="12857A"/>
                </a:solidFill>
                <a:latin typeface="Segoe UI"/>
                <a:cs typeface="Segoe UI"/>
              </a:rPr>
              <a:t>ההורה מפסיק לתרגם בין מערכות. הוא רואה אנשים, לא ספקים.</a:t>
            </a:r>
          </a:p>
        </p:txBody>
      </p:sp>
      <p:sp>
        <p:nvSpPr>
          <p:cNvPr id="24" name="s24"/>
          <p:cNvSpPr/>
          <p:nvPr/>
        </p:nvSpPr>
        <p:spPr>
          <a:xfrm>
            <a:off x="812800" y="5334000"/>
            <a:ext cx="10464800" cy="7366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" name="s25"/>
          <p:cNvSpPr/>
          <p:nvPr/>
        </p:nvSpPr>
        <p:spPr>
          <a:xfrm>
            <a:off x="11150600" y="5334000"/>
            <a:ext cx="127000" cy="7366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" name="t26"/>
          <p:cNvSpPr txBox="1"/>
          <p:nvPr/>
        </p:nvSpPr>
        <p:spPr>
          <a:xfrm>
            <a:off x="1117600" y="5486400"/>
            <a:ext cx="9779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CA6F1E"/>
                </a:solidFill>
                <a:latin typeface="Segoe UI"/>
                <a:cs typeface="Segoe UI"/>
              </a:rPr>
              <a:t>לגבי דיוק — ובכוונה בשקף הזה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1117600" y="5765800"/>
            <a:ext cx="9779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אין ל-ILANO חיבור, הסכם או קשר כלשהו לכללית, מכבי, מאוחדת, לאומית או צה״ל. השמות מופיעים כדי לתאר את המציאות של המשפחה, לא שותפות.</a:t>
            </a:r>
          </a:p>
        </p:txBody>
      </p:sp>
      <p:pic>
        <p:nvPicPr>
          <p:cNvPr id="28" name="p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9" name="t29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05  /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הפתרון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מנוע אחד. שישה שלבים. לולאה שנסגרת.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מה שנראה כמו חמישה פיצ׳רים נפרדים הוא מנגנון אחד שמקבל קלט משתנה.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965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t8"/>
          <p:cNvSpPr txBox="1"/>
          <p:nvPr/>
        </p:nvSpPr>
        <p:spPr>
          <a:xfrm>
            <a:off x="965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אירוע</a:t>
            </a:r>
          </a:p>
        </p:txBody>
      </p:sp>
      <p:sp>
        <p:nvSpPr>
          <p:cNvPr id="9" name="t9"/>
          <p:cNvSpPr txBox="1"/>
          <p:nvPr/>
        </p:nvSpPr>
        <p:spPr>
          <a:xfrm>
            <a:off x="965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ביקור הסתיים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מסמך הועלה</a:t>
            </a:r>
          </a:p>
        </p:txBody>
      </p:sp>
      <p:sp>
        <p:nvSpPr>
          <p:cNvPr id="10" name="s10"/>
          <p:cNvSpPr/>
          <p:nvPr/>
        </p:nvSpPr>
        <p:spPr>
          <a:xfrm>
            <a:off x="2590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t11"/>
          <p:cNvSpPr txBox="1"/>
          <p:nvPr/>
        </p:nvSpPr>
        <p:spPr>
          <a:xfrm>
            <a:off x="2743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2743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הבנה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2743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מה בדיוק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התרחש כאן</a:t>
            </a:r>
          </a:p>
        </p:txBody>
      </p:sp>
      <p:sp>
        <p:nvSpPr>
          <p:cNvPr id="14" name="s14"/>
          <p:cNvSpPr/>
          <p:nvPr/>
        </p:nvSpPr>
        <p:spPr>
          <a:xfrm>
            <a:off x="4368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4521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4521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הצעה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4521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מה נדרש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לקרות כעת</a:t>
            </a:r>
          </a:p>
        </p:txBody>
      </p:sp>
      <p:sp>
        <p:nvSpPr>
          <p:cNvPr id="18" name="s18"/>
          <p:cNvSpPr/>
          <p:nvPr/>
        </p:nvSpPr>
        <p:spPr>
          <a:xfrm>
            <a:off x="6146800" y="2616200"/>
            <a:ext cx="1625600" cy="1473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t19"/>
          <p:cNvSpPr txBox="1"/>
          <p:nvPr/>
        </p:nvSpPr>
        <p:spPr>
          <a:xfrm>
            <a:off x="6299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299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0B5F58"/>
                </a:solidFill>
                <a:latin typeface="Segoe UI"/>
                <a:cs typeface="Segoe UI"/>
              </a:rPr>
              <a:t>אישור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299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ההורה מאשר.</a:t>
            </a:r>
          </a:p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אין דילוג</a:t>
            </a:r>
          </a:p>
        </p:txBody>
      </p:sp>
      <p:sp>
        <p:nvSpPr>
          <p:cNvPr id="22" name="s22"/>
          <p:cNvSpPr/>
          <p:nvPr/>
        </p:nvSpPr>
        <p:spPr>
          <a:xfrm>
            <a:off x="7924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23"/>
          <p:cNvSpPr txBox="1"/>
          <p:nvPr/>
        </p:nvSpPr>
        <p:spPr>
          <a:xfrm>
            <a:off x="8077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8077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ביצוע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8077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לוח משפחתי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ותזכורת</a:t>
            </a:r>
          </a:p>
        </p:txBody>
      </p:sp>
      <p:sp>
        <p:nvSpPr>
          <p:cNvPr id="26" name="s26"/>
          <p:cNvSpPr/>
          <p:nvPr/>
        </p:nvSpPr>
        <p:spPr>
          <a:xfrm>
            <a:off x="9702800" y="2616200"/>
            <a:ext cx="15748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t27"/>
          <p:cNvSpPr txBox="1"/>
          <p:nvPr/>
        </p:nvSpPr>
        <p:spPr>
          <a:xfrm>
            <a:off x="9855200" y="2768600"/>
            <a:ext cx="127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2857A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9855200" y="30480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מעקב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9855200" y="3378200"/>
            <a:ext cx="12700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בוצע?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ואם לא, מדוע</a:t>
            </a:r>
          </a:p>
        </p:txBody>
      </p:sp>
      <p:sp>
        <p:nvSpPr>
          <p:cNvPr id="30" name="s30"/>
          <p:cNvSpPr/>
          <p:nvPr/>
        </p:nvSpPr>
        <p:spPr>
          <a:xfrm>
            <a:off x="812800" y="4470400"/>
            <a:ext cx="10464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1" name="t31"/>
          <p:cNvSpPr txBox="1"/>
          <p:nvPr/>
        </p:nvSpPr>
        <p:spPr>
          <a:xfrm>
            <a:off x="812800" y="4648200"/>
            <a:ext cx="10464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שלב 06 מייצר אירוע חדש ומזין את 01. כאן הלולאה נסגרת.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812800" y="5054600"/>
            <a:ext cx="10464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35000"/>
              </a:lnSpc>
            </a:pPr>
            <a:r>
              <a:rPr lang="he-IL" sz="1300" b="0" dirty="0">
                <a:solidFill>
                  <a:srgbClr val="63736F"/>
                </a:solidFill>
                <a:latin typeface="Segoe UI"/>
                <a:cs typeface="Segoe UI"/>
              </a:rPr>
              <a:t>משפחה שעברה את הלולאה פעמיים אינה חוזרת לנהל את זה לבד. זו ההגדרה התפעולית של ההצלחה שאנחנו מחפשים —</a:t>
            </a:r>
          </a:p>
          <a:p>
            <a:pPr algn="r" rtl="1">
              <a:lnSpc>
                <a:spcPct val="135000"/>
              </a:lnSpc>
            </a:pPr>
            <a:r>
              <a:rPr lang="he-IL" sz="1300" b="0" dirty="0">
                <a:solidFill>
                  <a:srgbClr val="63736F"/>
                </a:solidFill>
                <a:latin typeface="Segoe UI"/>
                <a:cs typeface="Segoe UI"/>
              </a:rPr>
              <a:t>לא הורדות, ולא זמן במסך.</a:t>
            </a:r>
          </a:p>
        </p:txBody>
      </p:sp>
      <p:pic>
        <p:nvPicPr>
          <p:cNvPr id="33" name="p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34" name="t34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06  /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המוצר  ·  מסך הבית</a:t>
            </a:r>
          </a:p>
        </p:txBody>
      </p:sp>
      <p:sp>
        <p:nvSpPr>
          <p:cNvPr id="4" name="s4"/>
          <p:cNvSpPr/>
          <p:nvPr/>
        </p:nvSpPr>
        <p:spPr>
          <a:xfrm>
            <a:off x="482600" y="1092200"/>
            <a:ext cx="11226800" cy="53086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5" name="s5"/>
          <p:cNvSpPr/>
          <p:nvPr/>
        </p:nvSpPr>
        <p:spPr>
          <a:xfrm>
            <a:off x="508000" y="1117600"/>
            <a:ext cx="11176000" cy="52578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s6"/>
          <p:cNvSpPr/>
          <p:nvPr/>
        </p:nvSpPr>
        <p:spPr>
          <a:xfrm>
            <a:off x="9931400" y="1117600"/>
            <a:ext cx="17526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pic>
        <p:nvPicPr>
          <p:cNvPr id="7" name="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600" y="1320800"/>
            <a:ext cx="355600" cy="355600"/>
          </a:xfrm>
          <a:prstGeom prst="rect">
            <a:avLst/>
          </a:prstGeom>
        </p:spPr>
      </p:pic>
      <p:sp>
        <p:nvSpPr>
          <p:cNvPr id="8" name="t8"/>
          <p:cNvSpPr txBox="1"/>
          <p:nvPr/>
        </p:nvSpPr>
        <p:spPr>
          <a:xfrm>
            <a:off x="10109200" y="1397000"/>
            <a:ext cx="939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0"/>
            <a:r>
              <a:rPr lang="en-US" sz="1200" b="1" dirty="0">
                <a:solidFill>
                  <a:srgbClr val="0B5F58"/>
                </a:solidFill>
                <a:latin typeface="Segoe UI"/>
                <a:cs typeface="Segoe UI"/>
              </a:rPr>
              <a:t>ILANO</a:t>
            </a:r>
          </a:p>
        </p:txBody>
      </p:sp>
      <p:sp>
        <p:nvSpPr>
          <p:cNvPr id="9" name="s9"/>
          <p:cNvSpPr/>
          <p:nvPr/>
        </p:nvSpPr>
        <p:spPr>
          <a:xfrm>
            <a:off x="10109200" y="1930400"/>
            <a:ext cx="1397000" cy="330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0210800" y="19939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בית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210800" y="24003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ILANO AI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0210800" y="27305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המשפחה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0210800" y="30607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תורים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0210800" y="33909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משימות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0210800" y="37211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מסמכים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210800" y="40513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חיסונים ובדיקות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0210800" y="43815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רופאים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0210800" y="4711700"/>
            <a:ext cx="1193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הגדרות</a:t>
            </a:r>
          </a:p>
        </p:txBody>
      </p:sp>
      <p:sp>
        <p:nvSpPr>
          <p:cNvPr id="19" name="s19"/>
          <p:cNvSpPr/>
          <p:nvPr/>
        </p:nvSpPr>
        <p:spPr>
          <a:xfrm>
            <a:off x="10109200" y="5740400"/>
            <a:ext cx="1397000" cy="3810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10109200" y="5829300"/>
            <a:ext cx="139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שאל את ILANO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858000" y="13208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בוקר טוב, רונית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096000" y="1625600"/>
            <a:ext cx="3606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ILANO דואגת לבריאות של כל המשפחה</a:t>
            </a:r>
          </a:p>
        </p:txBody>
      </p:sp>
      <p:sp>
        <p:nvSpPr>
          <p:cNvPr id="23" name="s23"/>
          <p:cNvSpPr/>
          <p:nvPr/>
        </p:nvSpPr>
        <p:spPr>
          <a:xfrm>
            <a:off x="711200" y="1955800"/>
            <a:ext cx="8991600" cy="1219200"/>
          </a:xfrm>
          <a:prstGeom prst="rect">
            <a:avLst/>
          </a:prstGeom>
          <a:solidFill>
            <a:srgbClr val="0C121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t24"/>
          <p:cNvSpPr txBox="1"/>
          <p:nvPr/>
        </p:nvSpPr>
        <p:spPr>
          <a:xfrm>
            <a:off x="7112000" y="2133600"/>
            <a:ext cx="2413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A8E3CE"/>
                </a:solidFill>
                <a:latin typeface="Segoe UI"/>
                <a:cs typeface="Segoe UI"/>
              </a:rPr>
              <a:t>מה ILANO מצאה השבוע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5080000" y="2438400"/>
            <a:ext cx="444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8FA19C"/>
                </a:solidFill>
                <a:latin typeface="Segoe UI"/>
                <a:cs typeface="Segoe UI"/>
              </a:rPr>
              <a:t>עברתי על המסמכים והתורים של ארבעת בני המשפחה</a:t>
            </a:r>
          </a:p>
          <a:p>
            <a:pPr algn="r" rtl="1"/>
            <a:r>
              <a:rPr lang="he-IL" sz="1000" b="0" dirty="0">
                <a:solidFill>
                  <a:srgbClr val="8FA19C"/>
                </a:solidFill>
                <a:latin typeface="Segoe UI"/>
                <a:cs typeface="Segoe UI"/>
              </a:rPr>
              <a:t>וזיהיתי שלושה דברים שדורשים החלטה שלך.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3810000" y="2184400"/>
            <a:ext cx="88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B03A2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3810000" y="2667000"/>
            <a:ext cx="88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900" b="0" dirty="0">
                <a:solidFill>
                  <a:srgbClr val="8FA19C"/>
                </a:solidFill>
                <a:latin typeface="Segoe UI"/>
                <a:cs typeface="Segoe UI"/>
              </a:rPr>
              <a:t>דורשים טיפול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2819400" y="2184400"/>
            <a:ext cx="88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CA6F1E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2819400" y="2667000"/>
            <a:ext cx="88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900" b="0" dirty="0">
                <a:solidFill>
                  <a:srgbClr val="8FA19C"/>
                </a:solidFill>
                <a:latin typeface="Segoe UI"/>
                <a:cs typeface="Segoe UI"/>
              </a:rPr>
              <a:t>קרובים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1828800" y="2184400"/>
            <a:ext cx="88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2FAE8E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1828800" y="2667000"/>
            <a:ext cx="88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900" b="0" dirty="0">
                <a:solidFill>
                  <a:srgbClr val="8FA19C"/>
                </a:solidFill>
                <a:latin typeface="Segoe UI"/>
                <a:cs typeface="Segoe UI"/>
              </a:rPr>
              <a:t>במעקב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838200" y="2184400"/>
            <a:ext cx="88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A8E3CE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838200" y="2667000"/>
            <a:ext cx="88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900" b="0" dirty="0">
                <a:solidFill>
                  <a:srgbClr val="8FA19C"/>
                </a:solidFill>
                <a:latin typeface="Segoe UI"/>
                <a:cs typeface="Segoe UI"/>
              </a:rPr>
              <a:t>בני משפחה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8382000" y="33274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המשפחה שלך</a:t>
            </a:r>
          </a:p>
        </p:txBody>
      </p:sp>
      <p:sp>
        <p:nvSpPr>
          <p:cNvPr id="35" name="s35"/>
          <p:cNvSpPr/>
          <p:nvPr/>
        </p:nvSpPr>
        <p:spPr>
          <a:xfrm>
            <a:off x="8432800" y="3606800"/>
            <a:ext cx="12700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6" name="t36"/>
          <p:cNvSpPr txBox="1"/>
          <p:nvPr/>
        </p:nvSpPr>
        <p:spPr>
          <a:xfrm>
            <a:off x="8534400" y="3708400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רונית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8534400" y="3962400"/>
            <a:ext cx="1066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1E8449"/>
                </a:solidFill>
                <a:latin typeface="Segoe UI"/>
                <a:cs typeface="Segoe UI"/>
              </a:rPr>
              <a:t>מסודרת</a:t>
            </a:r>
          </a:p>
        </p:txBody>
      </p:sp>
      <p:sp>
        <p:nvSpPr>
          <p:cNvPr id="38" name="s38"/>
          <p:cNvSpPr/>
          <p:nvPr/>
        </p:nvSpPr>
        <p:spPr>
          <a:xfrm>
            <a:off x="7061200" y="3606800"/>
            <a:ext cx="12700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9" name="t39"/>
          <p:cNvSpPr txBox="1"/>
          <p:nvPr/>
        </p:nvSpPr>
        <p:spPr>
          <a:xfrm>
            <a:off x="7162800" y="3708400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אסף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7162800" y="3962400"/>
            <a:ext cx="1066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B03A2E"/>
                </a:solidFill>
                <a:latin typeface="Segoe UI"/>
                <a:cs typeface="Segoe UI"/>
              </a:rPr>
              <a:t>דורש טיפול</a:t>
            </a:r>
          </a:p>
        </p:txBody>
      </p:sp>
      <p:sp>
        <p:nvSpPr>
          <p:cNvPr id="41" name="s41"/>
          <p:cNvSpPr/>
          <p:nvPr/>
        </p:nvSpPr>
        <p:spPr>
          <a:xfrm>
            <a:off x="5689600" y="3606800"/>
            <a:ext cx="12700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2" name="t42"/>
          <p:cNvSpPr txBox="1"/>
          <p:nvPr/>
        </p:nvSpPr>
        <p:spPr>
          <a:xfrm>
            <a:off x="5791200" y="3708400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דניאל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5791200" y="3962400"/>
            <a:ext cx="1066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CA6F1E"/>
                </a:solidFill>
                <a:latin typeface="Segoe UI"/>
                <a:cs typeface="Segoe UI"/>
              </a:rPr>
              <a:t>קרוב</a:t>
            </a:r>
          </a:p>
        </p:txBody>
      </p:sp>
      <p:sp>
        <p:nvSpPr>
          <p:cNvPr id="44" name="s44"/>
          <p:cNvSpPr/>
          <p:nvPr/>
        </p:nvSpPr>
        <p:spPr>
          <a:xfrm>
            <a:off x="4318000" y="3606800"/>
            <a:ext cx="12700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5" name="t45"/>
          <p:cNvSpPr txBox="1"/>
          <p:nvPr/>
        </p:nvSpPr>
        <p:spPr>
          <a:xfrm>
            <a:off x="4419600" y="3708400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מאיה</a:t>
            </a:r>
          </a:p>
        </p:txBody>
      </p:sp>
      <p:sp>
        <p:nvSpPr>
          <p:cNvPr id="46" name="t46"/>
          <p:cNvSpPr txBox="1"/>
          <p:nvPr/>
        </p:nvSpPr>
        <p:spPr>
          <a:xfrm>
            <a:off x="4419600" y="3962400"/>
            <a:ext cx="10668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B03A2E"/>
                </a:solidFill>
                <a:latin typeface="Segoe UI"/>
                <a:cs typeface="Segoe UI"/>
              </a:rPr>
              <a:t>דורשת טיפול</a:t>
            </a:r>
          </a:p>
        </p:txBody>
      </p:sp>
      <p:sp>
        <p:nvSpPr>
          <p:cNvPr id="47" name="t47"/>
          <p:cNvSpPr txBox="1"/>
          <p:nvPr/>
        </p:nvSpPr>
        <p:spPr>
          <a:xfrm>
            <a:off x="7112000" y="4546600"/>
            <a:ext cx="259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דורש את ההחלטה שלך</a:t>
            </a:r>
          </a:p>
        </p:txBody>
      </p:sp>
      <p:sp>
        <p:nvSpPr>
          <p:cNvPr id="48" name="s48"/>
          <p:cNvSpPr/>
          <p:nvPr/>
        </p:nvSpPr>
        <p:spPr>
          <a:xfrm>
            <a:off x="5080000" y="4800600"/>
            <a:ext cx="4622800" cy="4826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9" name="t49"/>
          <p:cNvSpPr txBox="1"/>
          <p:nvPr/>
        </p:nvSpPr>
        <p:spPr>
          <a:xfrm>
            <a:off x="5232400" y="48641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בדיקת שמיעה — מאיה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5232400" y="50927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1"/>
            <a:r>
              <a:rPr lang="he-IL" sz="800" b="0" dirty="0">
                <a:solidFill>
                  <a:srgbClr val="B03A2E"/>
                </a:solidFill>
                <a:latin typeface="Segoe UI"/>
                <a:cs typeface="Segoe UI"/>
              </a:rPr>
              <a:t>המלצת אחות טיפת חלב, אפריל  ·  ממתין 4 חודשים</a:t>
            </a:r>
          </a:p>
        </p:txBody>
      </p:sp>
      <p:sp>
        <p:nvSpPr>
          <p:cNvPr id="51" name="s51"/>
          <p:cNvSpPr/>
          <p:nvPr/>
        </p:nvSpPr>
        <p:spPr>
          <a:xfrm>
            <a:off x="5080000" y="5334000"/>
            <a:ext cx="4622800" cy="4826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52" name="t52"/>
          <p:cNvSpPr txBox="1"/>
          <p:nvPr/>
        </p:nvSpPr>
        <p:spPr>
          <a:xfrm>
            <a:off x="5232400" y="53975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חזרה על בדיקת דם — אסף</a:t>
            </a:r>
          </a:p>
        </p:txBody>
      </p:sp>
      <p:sp>
        <p:nvSpPr>
          <p:cNvPr id="53" name="t53"/>
          <p:cNvSpPr txBox="1"/>
          <p:nvPr/>
        </p:nvSpPr>
        <p:spPr>
          <a:xfrm>
            <a:off x="5232400" y="56261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1"/>
            <a:r>
              <a:rPr lang="he-IL" sz="800" b="0" dirty="0">
                <a:solidFill>
                  <a:srgbClr val="CA6F1E"/>
                </a:solidFill>
                <a:latin typeface="Segoe UI"/>
                <a:cs typeface="Segoe UI"/>
              </a:rPr>
              <a:t>כתוב בסיכום מ-22.5  ·  המועד החודש</a:t>
            </a:r>
          </a:p>
        </p:txBody>
      </p:sp>
      <p:sp>
        <p:nvSpPr>
          <p:cNvPr id="54" name="s54"/>
          <p:cNvSpPr/>
          <p:nvPr/>
        </p:nvSpPr>
        <p:spPr>
          <a:xfrm>
            <a:off x="5080000" y="5867400"/>
            <a:ext cx="4622800" cy="482600"/>
          </a:xfrm>
          <a:prstGeom prst="rect">
            <a:avLst/>
          </a:prstGeom>
          <a:solidFill>
            <a:srgbClr val="FCF7D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55" name="t55"/>
          <p:cNvSpPr txBox="1"/>
          <p:nvPr/>
        </p:nvSpPr>
        <p:spPr>
          <a:xfrm>
            <a:off x="5232400" y="5930900"/>
            <a:ext cx="2540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ביקורת שיניים — דניאל</a:t>
            </a:r>
          </a:p>
        </p:txBody>
      </p:sp>
      <p:sp>
        <p:nvSpPr>
          <p:cNvPr id="56" name="t56"/>
          <p:cNvSpPr txBox="1"/>
          <p:nvPr/>
        </p:nvSpPr>
        <p:spPr>
          <a:xfrm>
            <a:off x="5232400" y="61595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1"/>
            <a:r>
              <a:rPr lang="he-IL" sz="800" b="0" dirty="0">
                <a:solidFill>
                  <a:srgbClr val="9A7D0A"/>
                </a:solidFill>
                <a:latin typeface="Segoe UI"/>
                <a:cs typeface="Segoe UI"/>
              </a:rPr>
              <a:t>כתוב בפתק מ-12.3  ·  ספטמבר</a:t>
            </a:r>
          </a:p>
        </p:txBody>
      </p:sp>
      <p:sp>
        <p:nvSpPr>
          <p:cNvPr id="57" name="t57"/>
          <p:cNvSpPr txBox="1"/>
          <p:nvPr/>
        </p:nvSpPr>
        <p:spPr>
          <a:xfrm>
            <a:off x="2540000" y="45466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תורים קרובים</a:t>
            </a:r>
          </a:p>
        </p:txBody>
      </p:sp>
      <p:sp>
        <p:nvSpPr>
          <p:cNvPr id="58" name="s58"/>
          <p:cNvSpPr/>
          <p:nvPr/>
        </p:nvSpPr>
        <p:spPr>
          <a:xfrm>
            <a:off x="711200" y="4800600"/>
            <a:ext cx="4114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59" name="t59"/>
          <p:cNvSpPr txBox="1"/>
          <p:nvPr/>
        </p:nvSpPr>
        <p:spPr>
          <a:xfrm>
            <a:off x="863600" y="48641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דניאל  ·  רופא ילדים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863600" y="50927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1"/>
            <a:r>
              <a:rPr lang="he-IL" sz="800" b="0" dirty="0">
                <a:solidFill>
                  <a:srgbClr val="63736F"/>
                </a:solidFill>
                <a:latin typeface="Segoe UI"/>
                <a:cs typeface="Segoe UI"/>
              </a:rPr>
              <a:t>12.5  ·  16:30  ·  כללית</a:t>
            </a:r>
          </a:p>
        </p:txBody>
      </p:sp>
      <p:sp>
        <p:nvSpPr>
          <p:cNvPr id="61" name="s61"/>
          <p:cNvSpPr/>
          <p:nvPr/>
        </p:nvSpPr>
        <p:spPr>
          <a:xfrm>
            <a:off x="711200" y="5334000"/>
            <a:ext cx="4114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2" name="t62"/>
          <p:cNvSpPr txBox="1"/>
          <p:nvPr/>
        </p:nvSpPr>
        <p:spPr>
          <a:xfrm>
            <a:off x="863600" y="53975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מאיה  ·  רופאת עור</a:t>
            </a:r>
          </a:p>
        </p:txBody>
      </p:sp>
      <p:sp>
        <p:nvSpPr>
          <p:cNvPr id="63" name="t63"/>
          <p:cNvSpPr txBox="1"/>
          <p:nvPr/>
        </p:nvSpPr>
        <p:spPr>
          <a:xfrm>
            <a:off x="863600" y="56261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1"/>
            <a:r>
              <a:rPr lang="he-IL" sz="800" b="0" dirty="0">
                <a:solidFill>
                  <a:srgbClr val="63736F"/>
                </a:solidFill>
                <a:latin typeface="Segoe UI"/>
                <a:cs typeface="Segoe UI"/>
              </a:rPr>
              <a:t>14.5  ·  09:00  ·  כללית</a:t>
            </a:r>
          </a:p>
        </p:txBody>
      </p:sp>
      <p:sp>
        <p:nvSpPr>
          <p:cNvPr id="64" name="s64"/>
          <p:cNvSpPr/>
          <p:nvPr/>
        </p:nvSpPr>
        <p:spPr>
          <a:xfrm>
            <a:off x="711200" y="5867400"/>
            <a:ext cx="41148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5" name="t65"/>
          <p:cNvSpPr txBox="1"/>
          <p:nvPr/>
        </p:nvSpPr>
        <p:spPr>
          <a:xfrm>
            <a:off x="863600" y="5930900"/>
            <a:ext cx="228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רונית  ·  אורתופד</a:t>
            </a:r>
          </a:p>
        </p:txBody>
      </p:sp>
      <p:sp>
        <p:nvSpPr>
          <p:cNvPr id="66" name="t66"/>
          <p:cNvSpPr txBox="1"/>
          <p:nvPr/>
        </p:nvSpPr>
        <p:spPr>
          <a:xfrm>
            <a:off x="863600" y="61595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1"/>
            <a:r>
              <a:rPr lang="he-IL" sz="800" b="0" dirty="0">
                <a:solidFill>
                  <a:srgbClr val="63736F"/>
                </a:solidFill>
                <a:latin typeface="Segoe UI"/>
                <a:cs typeface="Segoe UI"/>
              </a:rPr>
              <a:t>15.5  ·  11:30  ·  מאוחדת</a:t>
            </a:r>
          </a:p>
        </p:txBody>
      </p:sp>
      <p:sp>
        <p:nvSpPr>
          <p:cNvPr id="67" name="t67"/>
          <p:cNvSpPr txBox="1"/>
          <p:nvPr/>
        </p:nvSpPr>
        <p:spPr>
          <a:xfrm>
            <a:off x="508000" y="6502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63736F"/>
                </a:solidFill>
                <a:latin typeface="Segoe UI"/>
                <a:cs typeface="Segoe UI"/>
              </a:rPr>
              <a:t>הדגמה עם נתונים בדויים. אין חיבור לאף ספק בריאות.</a:t>
            </a:r>
          </a:p>
        </p:txBody>
      </p:sp>
      <p:pic>
        <p:nvPicPr>
          <p:cNvPr id="68" name="p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69" name="t69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07  /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המוצר  ·  מסמך נכנס, פעולה יוצאת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השורה האפורה היא כל ההבדל</a:t>
            </a:r>
          </a:p>
        </p:txBody>
      </p:sp>
      <p:sp>
        <p:nvSpPr>
          <p:cNvPr id="5" name="s5"/>
          <p:cNvSpPr/>
          <p:nvPr/>
        </p:nvSpPr>
        <p:spPr>
          <a:xfrm>
            <a:off x="1219200" y="2260600"/>
            <a:ext cx="3124200" cy="4089400"/>
          </a:xfrm>
          <a:prstGeom prst="roundRect">
            <a:avLst>
              <a:gd name="adj" fmla="val 9000"/>
            </a:avLst>
          </a:prstGeom>
          <a:solidFill>
            <a:srgbClr val="10171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s6"/>
          <p:cNvSpPr/>
          <p:nvPr/>
        </p:nvSpPr>
        <p:spPr>
          <a:xfrm>
            <a:off x="1346200" y="2438400"/>
            <a:ext cx="2870200" cy="373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s7"/>
          <p:cNvSpPr/>
          <p:nvPr/>
        </p:nvSpPr>
        <p:spPr>
          <a:xfrm>
            <a:off x="2451100" y="2324100"/>
            <a:ext cx="660400" cy="63500"/>
          </a:xfrm>
          <a:prstGeom prst="roundRect">
            <a:avLst>
              <a:gd name="adj" fmla="val 9000"/>
            </a:avLst>
          </a:prstGeom>
          <a:solidFill>
            <a:srgbClr val="8FA19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t8"/>
          <p:cNvSpPr txBox="1"/>
          <p:nvPr/>
        </p:nvSpPr>
        <p:spPr>
          <a:xfrm>
            <a:off x="1473200" y="2540000"/>
            <a:ext cx="2616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0B5F58"/>
                </a:solidFill>
                <a:latin typeface="Segoe UI"/>
                <a:cs typeface="Segoe UI"/>
              </a:rPr>
              <a:t>מסמך של דניאל</a:t>
            </a:r>
          </a:p>
        </p:txBody>
      </p:sp>
      <p:sp>
        <p:nvSpPr>
          <p:cNvPr id="9" name="s9"/>
          <p:cNvSpPr/>
          <p:nvPr/>
        </p:nvSpPr>
        <p:spPr>
          <a:xfrm>
            <a:off x="1473200" y="2870200"/>
            <a:ext cx="2616200" cy="6858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600200" y="29718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101718"/>
                </a:solidFill>
                <a:latin typeface="Segoe UI"/>
                <a:cs typeface="Segoe UI"/>
              </a:rPr>
              <a:t>סיכום ביקור — רפואת שיניים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600200" y="32258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63736F"/>
                </a:solidFill>
                <a:latin typeface="Segoe UI"/>
                <a:cs typeface="Segoe UI"/>
              </a:rPr>
              <a:t>12 במרץ  ·  צילום מהתיק</a:t>
            </a:r>
          </a:p>
        </p:txBody>
      </p:sp>
      <p:sp>
        <p:nvSpPr>
          <p:cNvPr id="12" name="s12"/>
          <p:cNvSpPr/>
          <p:nvPr/>
        </p:nvSpPr>
        <p:spPr>
          <a:xfrm>
            <a:off x="1473200" y="3708400"/>
            <a:ext cx="2616200" cy="14986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1600200" y="3810000"/>
            <a:ext cx="23622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0B5F58"/>
                </a:solidFill>
                <a:latin typeface="Segoe UI"/>
                <a:cs typeface="Segoe UI"/>
              </a:rPr>
              <a:t>קראתי את הסיכום.</a:t>
            </a:r>
          </a:p>
          <a:p>
            <a:pPr algn="r" rtl="1"/>
            <a:r>
              <a:rPr lang="he-IL" sz="1000" b="0" dirty="0">
                <a:solidFill>
                  <a:srgbClr val="0B5F58"/>
                </a:solidFill>
                <a:latin typeface="Segoe UI"/>
                <a:cs typeface="Segoe UI"/>
              </a:rPr>
              <a:t>זיהיתי פעולה אחת: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600200" y="4292600"/>
            <a:ext cx="236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01718"/>
                </a:solidFill>
                <a:latin typeface="Segoe UI"/>
                <a:cs typeface="Segoe UI"/>
              </a:rPr>
              <a:t>ביקורת שיניים — ספטמבר</a:t>
            </a:r>
          </a:p>
        </p:txBody>
      </p:sp>
      <p:sp>
        <p:nvSpPr>
          <p:cNvPr id="15" name="s15"/>
          <p:cNvSpPr/>
          <p:nvPr/>
        </p:nvSpPr>
        <p:spPr>
          <a:xfrm>
            <a:off x="1600200" y="4597400"/>
            <a:ext cx="2362200" cy="48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1701800" y="4673600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800" b="0" dirty="0">
                <a:solidFill>
                  <a:srgbClr val="63736F"/>
                </a:solidFill>
                <a:latin typeface="Segoe UI"/>
                <a:cs typeface="Segoe UI"/>
              </a:rPr>
              <a:t>המקור: כתוב בפתק —</a:t>
            </a:r>
          </a:p>
          <a:p>
            <a:pPr algn="r" rtl="1"/>
            <a:r>
              <a:rPr lang="he-IL" sz="800" b="0" dirty="0">
                <a:solidFill>
                  <a:srgbClr val="63736F"/>
                </a:solidFill>
                <a:latin typeface="Segoe UI"/>
                <a:cs typeface="Segoe UI"/>
              </a:rPr>
              <a:t>״לחזור לביקורת בעוד חצי שנה״</a:t>
            </a:r>
          </a:p>
        </p:txBody>
      </p:sp>
      <p:sp>
        <p:nvSpPr>
          <p:cNvPr id="17" name="s17"/>
          <p:cNvSpPr/>
          <p:nvPr/>
        </p:nvSpPr>
        <p:spPr>
          <a:xfrm>
            <a:off x="1473200" y="5384800"/>
            <a:ext cx="1270000" cy="4064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8" name="t18"/>
          <p:cNvSpPr txBox="1"/>
          <p:nvPr/>
        </p:nvSpPr>
        <p:spPr>
          <a:xfrm>
            <a:off x="1473200" y="54737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  <a:latin typeface="Segoe UI"/>
                <a:cs typeface="Segoe UI"/>
              </a:rPr>
              <a:t>להוסיף</a:t>
            </a:r>
          </a:p>
        </p:txBody>
      </p:sp>
      <p:sp>
        <p:nvSpPr>
          <p:cNvPr id="19" name="s19"/>
          <p:cNvSpPr/>
          <p:nvPr/>
        </p:nvSpPr>
        <p:spPr>
          <a:xfrm>
            <a:off x="2819400" y="5384800"/>
            <a:ext cx="1270000" cy="4064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2819400" y="54737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לא כעת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5029200" y="2413000"/>
            <a:ext cx="62484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ILANO‏ לא המציאה את חצי השנה — היא ציטטה את הרופאה. כל המלצה במוצר נושאת את מקורה על פניה, ואין בממשק דרך להציג המלצה ללא מקור.</a:t>
            </a:r>
          </a:p>
        </p:txBody>
      </p:sp>
      <p:sp>
        <p:nvSpPr>
          <p:cNvPr id="22" name="s22"/>
          <p:cNvSpPr/>
          <p:nvPr/>
        </p:nvSpPr>
        <p:spPr>
          <a:xfrm>
            <a:off x="5029200" y="3581400"/>
            <a:ext cx="62484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23"/>
          <p:cNvSpPr txBox="1"/>
          <p:nvPr/>
        </p:nvSpPr>
        <p:spPr>
          <a:xfrm>
            <a:off x="5029200" y="3784600"/>
            <a:ext cx="6248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0B5F58"/>
                </a:solidFill>
                <a:latin typeface="Segoe UI"/>
                <a:cs typeface="Segoe UI"/>
              </a:rPr>
              <a:t>וזו גם התשובה למשקיע ששואל על אחריות רפואית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5029200" y="4165600"/>
            <a:ext cx="62484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מוצר שממציא המלצות רפואיות נושא חשיפה משפטית ללא תקרה.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מוצר שמצטט מקור הוא כלי ארגון — וזו הקטגוריה שבה אנחנו פועלים.</a:t>
            </a:r>
          </a:p>
        </p:txBody>
      </p:sp>
      <p:sp>
        <p:nvSpPr>
          <p:cNvPr id="25" name="s25"/>
          <p:cNvSpPr/>
          <p:nvPr/>
        </p:nvSpPr>
        <p:spPr>
          <a:xfrm>
            <a:off x="5029200" y="5334000"/>
            <a:ext cx="6248400" cy="7366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" name="t26"/>
          <p:cNvSpPr txBox="1"/>
          <p:nvPr/>
        </p:nvSpPr>
        <p:spPr>
          <a:xfrm>
            <a:off x="5283200" y="5486400"/>
            <a:ext cx="574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המשמעות העסקית: אותה שורה אפורה היא גם מה שהופך את ILANO לניתנת לביטוח, לאישור, ולמכירה למוסד.</a:t>
            </a:r>
          </a:p>
        </p:txBody>
      </p:sp>
      <p:pic>
        <p:nvPicPr>
          <p:cNvPr id="27" name="p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8" name="t28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08  /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המוצר  ·  מציאה, בחירה, אישור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שלב 04 בלולאה אינו ניתן לדילוג</a:t>
            </a:r>
          </a:p>
        </p:txBody>
      </p:sp>
      <p:sp>
        <p:nvSpPr>
          <p:cNvPr id="5" name="s5"/>
          <p:cNvSpPr/>
          <p:nvPr/>
        </p:nvSpPr>
        <p:spPr>
          <a:xfrm>
            <a:off x="1219200" y="2260600"/>
            <a:ext cx="3124200" cy="4089400"/>
          </a:xfrm>
          <a:prstGeom prst="roundRect">
            <a:avLst>
              <a:gd name="adj" fmla="val 9000"/>
            </a:avLst>
          </a:prstGeom>
          <a:solidFill>
            <a:srgbClr val="10171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s6"/>
          <p:cNvSpPr/>
          <p:nvPr/>
        </p:nvSpPr>
        <p:spPr>
          <a:xfrm>
            <a:off x="1346200" y="2438400"/>
            <a:ext cx="2870200" cy="3733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s7"/>
          <p:cNvSpPr/>
          <p:nvPr/>
        </p:nvSpPr>
        <p:spPr>
          <a:xfrm>
            <a:off x="2451100" y="2324100"/>
            <a:ext cx="660400" cy="63500"/>
          </a:xfrm>
          <a:prstGeom prst="roundRect">
            <a:avLst>
              <a:gd name="adj" fmla="val 9000"/>
            </a:avLst>
          </a:prstGeom>
          <a:solidFill>
            <a:srgbClr val="8FA19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t8"/>
          <p:cNvSpPr txBox="1"/>
          <p:nvPr/>
        </p:nvSpPr>
        <p:spPr>
          <a:xfrm>
            <a:off x="1473200" y="2540000"/>
            <a:ext cx="2616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0B5F58"/>
                </a:solidFill>
                <a:latin typeface="Segoe UI"/>
                <a:cs typeface="Segoe UI"/>
              </a:rPr>
              <a:t>קביעת תור</a:t>
            </a:r>
          </a:p>
        </p:txBody>
      </p:sp>
      <p:sp>
        <p:nvSpPr>
          <p:cNvPr id="9" name="t9"/>
          <p:cNvSpPr txBox="1"/>
          <p:nvPr/>
        </p:nvSpPr>
        <p:spPr>
          <a:xfrm>
            <a:off x="1473200" y="2844800"/>
            <a:ext cx="2616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ד״ר שרה כהן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473200" y="3149600"/>
            <a:ext cx="261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63736F"/>
                </a:solidFill>
                <a:latin typeface="Segoe UI"/>
                <a:cs typeface="Segoe UI"/>
              </a:rPr>
              <a:t>רפואת שיניים  ·  הרופאה של דניאל</a:t>
            </a:r>
          </a:p>
        </p:txBody>
      </p:sp>
      <p:sp>
        <p:nvSpPr>
          <p:cNvPr id="11" name="s11"/>
          <p:cNvSpPr/>
          <p:nvPr/>
        </p:nvSpPr>
        <p:spPr>
          <a:xfrm>
            <a:off x="1473200" y="3530600"/>
            <a:ext cx="2616200" cy="482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1600200" y="3632200"/>
            <a:ext cx="2362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ראשון  ·  10:00</a:t>
            </a:r>
          </a:p>
        </p:txBody>
      </p:sp>
      <p:sp>
        <p:nvSpPr>
          <p:cNvPr id="13" name="s13"/>
          <p:cNvSpPr/>
          <p:nvPr/>
        </p:nvSpPr>
        <p:spPr>
          <a:xfrm>
            <a:off x="1473200" y="4089400"/>
            <a:ext cx="2616200" cy="4826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t14"/>
          <p:cNvSpPr txBox="1"/>
          <p:nvPr/>
        </p:nvSpPr>
        <p:spPr>
          <a:xfrm>
            <a:off x="1600200" y="4191000"/>
            <a:ext cx="2362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0B5F58"/>
                </a:solidFill>
                <a:latin typeface="Segoe UI"/>
                <a:cs typeface="Segoe UI"/>
              </a:rPr>
              <a:t>שלישי  ·  14:30</a:t>
            </a:r>
          </a:p>
        </p:txBody>
      </p:sp>
      <p:sp>
        <p:nvSpPr>
          <p:cNvPr id="15" name="s15"/>
          <p:cNvSpPr/>
          <p:nvPr/>
        </p:nvSpPr>
        <p:spPr>
          <a:xfrm>
            <a:off x="1473200" y="4648200"/>
            <a:ext cx="2616200" cy="482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1600200" y="4749800"/>
            <a:ext cx="2362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חמישי  ·  09:00</a:t>
            </a:r>
          </a:p>
        </p:txBody>
      </p:sp>
      <p:sp>
        <p:nvSpPr>
          <p:cNvPr id="17" name="s17"/>
          <p:cNvSpPr/>
          <p:nvPr/>
        </p:nvSpPr>
        <p:spPr>
          <a:xfrm>
            <a:off x="1473200" y="5308600"/>
            <a:ext cx="2616200" cy="4572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8" name="t18"/>
          <p:cNvSpPr txBox="1"/>
          <p:nvPr/>
        </p:nvSpPr>
        <p:spPr>
          <a:xfrm>
            <a:off x="1473200" y="5410200"/>
            <a:ext cx="2616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  <a:latin typeface="Segoe UI"/>
                <a:cs typeface="Segoe UI"/>
              </a:rPr>
              <a:t>לאשר שלישי 14:30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473200" y="5867400"/>
            <a:ext cx="2616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800" b="0" dirty="0">
                <a:solidFill>
                  <a:srgbClr val="63736F"/>
                </a:solidFill>
                <a:latin typeface="Segoe UI"/>
                <a:cs typeface="Segoe UI"/>
              </a:rPr>
              <a:t>הדגמה — אין חיבור לספק בריאות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5029200" y="2413000"/>
            <a:ext cx="62484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ILANO‏ אינה קובעת תור מיוזמתה ולא תעשה זאת. היא מכינה את ההחלטה עד סופה — ומשאירה להורה לחיצה אחת.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5029200" y="3403600"/>
            <a:ext cx="6248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0B5F58"/>
                </a:solidFill>
                <a:latin typeface="Segoe UI"/>
                <a:cs typeface="Segoe UI"/>
              </a:rPr>
              <a:t>למה זה עיצוב ולא הסתייגות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5029200" y="3759200"/>
            <a:ext cx="62484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אוטומציה מלאה בבריאות שוברת אמון ברגע שהיא טועה פעם אחת.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אישור אנושי הוא מה שמאפשר לנו להיות אגרסיביים בזיהוי — כי ההורה תמיד השער האחרון.</a:t>
            </a:r>
          </a:p>
        </p:txBody>
      </p:sp>
      <p:sp>
        <p:nvSpPr>
          <p:cNvPr id="23" name="s23"/>
          <p:cNvSpPr/>
          <p:nvPr/>
        </p:nvSpPr>
        <p:spPr>
          <a:xfrm>
            <a:off x="5029200" y="5130800"/>
            <a:ext cx="6248400" cy="9652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s24"/>
          <p:cNvSpPr/>
          <p:nvPr/>
        </p:nvSpPr>
        <p:spPr>
          <a:xfrm>
            <a:off x="11150600" y="5130800"/>
            <a:ext cx="127000" cy="9652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" name="t25"/>
          <p:cNvSpPr txBox="1"/>
          <p:nvPr/>
        </p:nvSpPr>
        <p:spPr>
          <a:xfrm>
            <a:off x="5283200" y="5308600"/>
            <a:ext cx="5613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CA6F1E"/>
                </a:solidFill>
                <a:latin typeface="Segoe UI"/>
                <a:cs typeface="Segoe UI"/>
              </a:rPr>
              <a:t>מה כאן עדיין אינו אמיתי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5283200" y="5613400"/>
            <a:ext cx="5613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הזמנים הפנויים הם נתוני הדגמה. אין לנו חיבור לאף קופה, ואיננו מעמידים פנים שיש.</a:t>
            </a:r>
          </a:p>
        </p:txBody>
      </p:sp>
      <p:pic>
        <p:nvPicPr>
          <p:cNvPr id="27" name="p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8" name="t28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09  /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בידול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למה זה לא עוד יומן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362200"/>
            <a:ext cx="10464800" cy="5080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t6"/>
          <p:cNvSpPr txBox="1"/>
          <p:nvPr/>
        </p:nvSpPr>
        <p:spPr>
          <a:xfrm>
            <a:off x="1066800" y="24892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FFFFFF"/>
                </a:solidFill>
                <a:latin typeface="Segoe UI"/>
                <a:cs typeface="Segoe UI"/>
              </a:rPr>
              <a:t>המוצר</a:t>
            </a:r>
          </a:p>
        </p:txBody>
      </p:sp>
      <p:sp>
        <p:nvSpPr>
          <p:cNvPr id="7" name="t7"/>
          <p:cNvSpPr txBox="1"/>
          <p:nvPr/>
        </p:nvSpPr>
        <p:spPr>
          <a:xfrm>
            <a:off x="3810000" y="24892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FFFFFF"/>
                </a:solidFill>
                <a:latin typeface="Segoe UI"/>
                <a:cs typeface="Segoe UI"/>
              </a:rPr>
              <a:t>מה הוא עושה</a:t>
            </a:r>
          </a:p>
        </p:txBody>
      </p:sp>
      <p:sp>
        <p:nvSpPr>
          <p:cNvPr id="8" name="t8"/>
          <p:cNvSpPr txBox="1"/>
          <p:nvPr/>
        </p:nvSpPr>
        <p:spPr>
          <a:xfrm>
            <a:off x="7061200" y="2489200"/>
            <a:ext cx="3962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FFFFFF"/>
                </a:solidFill>
                <a:latin typeface="Segoe UI"/>
                <a:cs typeface="Segoe UI"/>
              </a:rPr>
              <a:t>היכן הוא נעצר</a:t>
            </a:r>
          </a:p>
        </p:txBody>
      </p:sp>
      <p:sp>
        <p:nvSpPr>
          <p:cNvPr id="9" name="t9"/>
          <p:cNvSpPr txBox="1"/>
          <p:nvPr/>
        </p:nvSpPr>
        <p:spPr>
          <a:xfrm>
            <a:off x="1066800" y="3048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יומן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810000" y="3048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מציג את מה שהזנת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7061200" y="3048000"/>
            <a:ext cx="396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ממתין שתזכור. אם רונית לא הזינה — הבעיה נותרה</a:t>
            </a:r>
          </a:p>
        </p:txBody>
      </p:sp>
      <p:sp>
        <p:nvSpPr>
          <p:cNvPr id="12" name="s12"/>
          <p:cNvSpPr/>
          <p:nvPr/>
        </p:nvSpPr>
        <p:spPr>
          <a:xfrm>
            <a:off x="812800" y="3632200"/>
            <a:ext cx="10464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1066800" y="37592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אפליקציית קופה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3810000" y="37592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מטופל אחד, קופה אחת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7061200" y="3759200"/>
            <a:ext cx="396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רונית זקוקה לשלוש אפליקציות, ובאף אחת אין תצוגה משפחתית</a:t>
            </a:r>
          </a:p>
        </p:txBody>
      </p:sp>
      <p:sp>
        <p:nvSpPr>
          <p:cNvPr id="16" name="s16"/>
          <p:cNvSpPr/>
          <p:nvPr/>
        </p:nvSpPr>
        <p:spPr>
          <a:xfrm>
            <a:off x="812800" y="4343400"/>
            <a:ext cx="10464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t17"/>
          <p:cNvSpPr txBox="1"/>
          <p:nvPr/>
        </p:nvSpPr>
        <p:spPr>
          <a:xfrm>
            <a:off x="1066800" y="44704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תיק רפואי דיגיטלי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3810000" y="44704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שומר מסמכים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061200" y="4470400"/>
            <a:ext cx="396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אחסון איננו פעולה. מסמך שנשמר ולא נקרא שקול לאבוד</a:t>
            </a:r>
          </a:p>
        </p:txBody>
      </p:sp>
      <p:sp>
        <p:nvSpPr>
          <p:cNvPr id="20" name="s20"/>
          <p:cNvSpPr/>
          <p:nvPr/>
        </p:nvSpPr>
        <p:spPr>
          <a:xfrm>
            <a:off x="812800" y="5054600"/>
            <a:ext cx="10464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1" name="s21"/>
          <p:cNvSpPr/>
          <p:nvPr/>
        </p:nvSpPr>
        <p:spPr>
          <a:xfrm>
            <a:off x="812800" y="5181600"/>
            <a:ext cx="10464800" cy="7874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t22"/>
          <p:cNvSpPr txBox="1"/>
          <p:nvPr/>
        </p:nvSpPr>
        <p:spPr>
          <a:xfrm>
            <a:off x="1066800" y="53594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0"/>
            <a:r>
              <a:rPr lang="en-US" sz="1400" b="1" dirty="0">
                <a:solidFill>
                  <a:srgbClr val="0B5F58"/>
                </a:solidFill>
                <a:latin typeface="Segoe UI"/>
                <a:cs typeface="Segoe UI"/>
              </a:rPr>
              <a:t>ILANO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3810000" y="5334000"/>
            <a:ext cx="3048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0B5F58"/>
                </a:solidFill>
                <a:latin typeface="Segoe UI"/>
                <a:cs typeface="Segoe UI"/>
              </a:rPr>
              <a:t>קוראת את מה שכבר קיים</a:t>
            </a:r>
          </a:p>
          <a:p>
            <a:pPr algn="r" rtl="1"/>
            <a:r>
              <a:rPr lang="he-IL" sz="1200" b="0" dirty="0">
                <a:solidFill>
                  <a:srgbClr val="0B5F58"/>
                </a:solidFill>
                <a:latin typeface="Segoe UI"/>
                <a:cs typeface="Segoe UI"/>
              </a:rPr>
              <a:t>ומייצרת ממנו פעולה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7061200" y="5435600"/>
            <a:ext cx="396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0B5F58"/>
                </a:solidFill>
                <a:latin typeface="Segoe UI"/>
                <a:cs typeface="Segoe UI"/>
              </a:rPr>
              <a:t>ההורה אינו נדרש לזכור — הוא נדרש לאשר</a:t>
            </a:r>
          </a:p>
        </p:txBody>
      </p:sp>
      <p:pic>
        <p:nvPicPr>
          <p:cNvPr id="25" name="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6" name="t26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10  /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גבול הבטיחות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כלל המקור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״המעקב הבא בעוד חצי שנה״ הוא אמירה קלינית. מודל שממציא אותה מסכן ילדים — ואיתם את החברה.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794000"/>
            <a:ext cx="3352800" cy="1879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1066800" y="29972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0B5F58"/>
                </a:solidFill>
                <a:latin typeface="Segoe UI"/>
                <a:cs typeface="Segoe UI"/>
              </a:rPr>
              <a:t>א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66800" y="3352800"/>
            <a:ext cx="2844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מה שהרופא כתב</a:t>
            </a:r>
          </a:p>
        </p:txBody>
      </p:sp>
      <p:sp>
        <p:nvSpPr>
          <p:cNvPr id="9" name="t9"/>
          <p:cNvSpPr txBox="1"/>
          <p:nvPr/>
        </p:nvSpPr>
        <p:spPr>
          <a:xfrm>
            <a:off x="1066800" y="3810000"/>
            <a:ext cx="2844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״כתוב בסיכום מ-12.3״</a:t>
            </a:r>
          </a:p>
        </p:txBody>
      </p:sp>
      <p:sp>
        <p:nvSpPr>
          <p:cNvPr id="10" name="s10"/>
          <p:cNvSpPr/>
          <p:nvPr/>
        </p:nvSpPr>
        <p:spPr>
          <a:xfrm>
            <a:off x="4368800" y="2794000"/>
            <a:ext cx="3352800" cy="1879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t11"/>
          <p:cNvSpPr txBox="1"/>
          <p:nvPr/>
        </p:nvSpPr>
        <p:spPr>
          <a:xfrm>
            <a:off x="4622800" y="29972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0B5F58"/>
                </a:solidFill>
                <a:latin typeface="Segoe UI"/>
                <a:cs typeface="Segoe UI"/>
              </a:rPr>
              <a:t>ב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622800" y="3352800"/>
            <a:ext cx="2844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הנחיה ציבורית, עם קישור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622800" y="3810000"/>
            <a:ext cx="2844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״לפי תוכנית החיסונים של משרד הבריאות״</a:t>
            </a:r>
          </a:p>
        </p:txBody>
      </p:sp>
      <p:sp>
        <p:nvSpPr>
          <p:cNvPr id="14" name="s14"/>
          <p:cNvSpPr/>
          <p:nvPr/>
        </p:nvSpPr>
        <p:spPr>
          <a:xfrm>
            <a:off x="7924800" y="2794000"/>
            <a:ext cx="3352800" cy="1879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8178800" y="29972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0B5F58"/>
                </a:solidFill>
                <a:latin typeface="Segoe UI"/>
                <a:cs typeface="Segoe UI"/>
              </a:rPr>
              <a:t>ג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8178800" y="3352800"/>
            <a:ext cx="2844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מה שהמשפחה הגדירה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8178800" y="3810000"/>
            <a:ext cx="28448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״ביקשתם להזכיר כל חצי שנה״</a:t>
            </a:r>
          </a:p>
        </p:txBody>
      </p:sp>
      <p:sp>
        <p:nvSpPr>
          <p:cNvPr id="18" name="s18"/>
          <p:cNvSpPr/>
          <p:nvPr/>
        </p:nvSpPr>
        <p:spPr>
          <a:xfrm>
            <a:off x="812800" y="4978400"/>
            <a:ext cx="10464800" cy="10922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s19"/>
          <p:cNvSpPr/>
          <p:nvPr/>
        </p:nvSpPr>
        <p:spPr>
          <a:xfrm>
            <a:off x="11150600" y="4978400"/>
            <a:ext cx="127000" cy="10922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1066800" y="5130800"/>
            <a:ext cx="9956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B03A2E"/>
                </a:solidFill>
                <a:latin typeface="Segoe UI"/>
                <a:cs typeface="Segoe UI"/>
              </a:rPr>
              <a:t>אין מקור רביעי. אין ״לפי הידע הכללי של המודל״.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1066800" y="5486400"/>
            <a:ext cx="9956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הכלל נאכף בשלוש שכבות: ב-prompt‏ של המערכת, בשכבת הנתונים, ובממשק — שאינו יודע כלל להציג המלצה ללא שדה מקור.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אין דרך בקוד לעקוף אותו, וזה מכוון.</a:t>
            </a:r>
          </a:p>
        </p:txBody>
      </p:sp>
      <p:pic>
        <p:nvPicPr>
          <p:cNvPr id="22" name="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3" name="t23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11  /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כניסה לשוק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הורים לילדים 0–6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״מערכת הפעלה לבריאות המשפחה״ רחבה מכדי להיכנס איתה. זה הטריז.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743200"/>
            <a:ext cx="5130800" cy="9398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1066800" y="28956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תדירות גבוהה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66800" y="32258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טיפת חלב, חיסונים, בדיקות התפתחות, מחלות — כל חודש</a:t>
            </a:r>
          </a:p>
        </p:txBody>
      </p:sp>
      <p:sp>
        <p:nvSpPr>
          <p:cNvPr id="9" name="s9"/>
          <p:cNvSpPr/>
          <p:nvPr/>
        </p:nvSpPr>
        <p:spPr>
          <a:xfrm>
            <a:off x="812800" y="3810000"/>
            <a:ext cx="5130800" cy="9398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066800" y="39624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שכחה מובנית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66800" y="42926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לוח החיסונים תלוי-גיל ומורכב, וההורים ישנים מעט</a:t>
            </a:r>
          </a:p>
        </p:txBody>
      </p:sp>
      <p:sp>
        <p:nvSpPr>
          <p:cNvPr id="12" name="s12"/>
          <p:cNvSpPr/>
          <p:nvPr/>
        </p:nvSpPr>
        <p:spPr>
          <a:xfrm>
            <a:off x="812800" y="4876800"/>
            <a:ext cx="5130800" cy="9398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1066800" y="50292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נכונות רגשית לשלם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066800" y="53594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הורים משלמים על ביטחון עבור ילד, לא עבור עצמם</a:t>
            </a:r>
          </a:p>
        </p:txBody>
      </p:sp>
      <p:sp>
        <p:nvSpPr>
          <p:cNvPr id="15" name="s15"/>
          <p:cNvSpPr/>
          <p:nvPr/>
        </p:nvSpPr>
        <p:spPr>
          <a:xfrm>
            <a:off x="6248400" y="2743200"/>
            <a:ext cx="5029200" cy="30734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6553200" y="29718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וזו הסיבה האמיתית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553200" y="3378200"/>
            <a:ext cx="4419600" cy="1092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25000"/>
              </a:lnSpc>
            </a:pPr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לוח החיסונים של משרד הבריאות מפורסם בפומבי.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553200" y="4521200"/>
            <a:ext cx="44196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he-IL" sz="1300" b="0" dirty="0">
                <a:solidFill>
                  <a:srgbClr val="0B5F58"/>
                </a:solidFill>
                <a:latin typeface="Segoe UI"/>
                <a:cs typeface="Segoe UI"/>
              </a:rPr>
              <a:t>כלומר ILANO‏ יכולה להיות פרואקטיבית עם מקור מצוטט, בלי להמציא ידע רפואי.</a:t>
            </a:r>
          </a:p>
          <a:p>
            <a:pPr algn="r" rtl="1">
              <a:lnSpc>
                <a:spcPct val="130000"/>
              </a:lnSpc>
            </a:pPr>
            <a:endParaRPr lang="he-IL" sz="1300"/>
          </a:p>
          <a:p>
            <a:pPr algn="r" rtl="1">
              <a:lnSpc>
                <a:spcPct val="130000"/>
              </a:lnSpc>
            </a:pPr>
            <a:r>
              <a:rPr lang="he-IL" sz="1300" b="0" dirty="0">
                <a:solidFill>
                  <a:srgbClr val="0B5F58"/>
                </a:solidFill>
                <a:latin typeface="Segoe UI"/>
                <a:cs typeface="Segoe UI"/>
              </a:rPr>
              <a:t>הטריז הזה פותר את הסיכון הרפואי במקום להתנגש בו.</a:t>
            </a:r>
          </a:p>
        </p:txBody>
      </p:sp>
      <p:pic>
        <p:nvPicPr>
          <p:cNvPr id="19" name="p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0" name="t20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12  /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מיקוד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מה בונים — ומה לא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מוצר מנופח הוא הדרך הנפוצה ביותר להיכשל עוד לפני שמגלים אם מישהו רוצה אותו.</a:t>
            </a:r>
          </a:p>
        </p:txBody>
      </p:sp>
      <p:sp>
        <p:nvSpPr>
          <p:cNvPr id="6" name="s6"/>
          <p:cNvSpPr/>
          <p:nvPr/>
        </p:nvSpPr>
        <p:spPr>
          <a:xfrm>
            <a:off x="6248400" y="2743200"/>
            <a:ext cx="5029200" cy="3175000"/>
          </a:xfrm>
          <a:prstGeom prst="rect">
            <a:avLst/>
          </a:prstGeom>
          <a:solidFill>
            <a:srgbClr val="E6F2E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6553200" y="29464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E8449"/>
                </a:solidFill>
                <a:latin typeface="Segoe UI"/>
                <a:cs typeface="Segoe UI"/>
              </a:rPr>
              <a:t>נכנס ל-V1</a:t>
            </a:r>
          </a:p>
        </p:txBody>
      </p:sp>
      <p:sp>
        <p:nvSpPr>
          <p:cNvPr id="8" name="t8"/>
          <p:cNvSpPr txBox="1"/>
          <p:nvPr/>
        </p:nvSpPr>
        <p:spPr>
          <a:xfrm>
            <a:off x="6553200" y="3352800"/>
            <a:ext cx="44196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דשבורד משפחתי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מה ILANO‏ מצאה — תובנות יזומות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העלאת מסמך וניתוחו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פרופיל וציר זמן לכל בן משפחה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פעולות ומשימות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שאל את ILANO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התראות</a:t>
            </a:r>
          </a:p>
          <a:p>
            <a:pPr algn="r" rtl="1">
              <a:lnSpc>
                <a:spcPct val="155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ריבוי קופות — תצוגה בלבד</a:t>
            </a:r>
          </a:p>
        </p:txBody>
      </p:sp>
      <p:sp>
        <p:nvSpPr>
          <p:cNvPr id="9" name="s9"/>
          <p:cNvSpPr/>
          <p:nvPr/>
        </p:nvSpPr>
        <p:spPr>
          <a:xfrm>
            <a:off x="812800" y="2743200"/>
            <a:ext cx="5130800" cy="31750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066800" y="2946400"/>
            <a:ext cx="4521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B03A2E"/>
                </a:solidFill>
                <a:latin typeface="Segoe UI"/>
                <a:cs typeface="Segoe UI"/>
              </a:rPr>
              <a:t>יורד במכוון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66800" y="3352800"/>
            <a:ext cx="45212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68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מרכז אוטומציה — מנהל כוח שטרם קיים</a:t>
            </a:r>
          </a:p>
          <a:p>
            <a:pPr algn="r" rtl="1">
              <a:lnSpc>
                <a:spcPct val="168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גרפים ותובנות — דורשים פרשנות, כלומר עבודה</a:t>
            </a:r>
          </a:p>
          <a:p>
            <a:pPr algn="r" rtl="1">
              <a:lnSpc>
                <a:spcPct val="168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אזור מידע חירום — אם אינו מעודכן, זהו נזק</a:t>
            </a:r>
          </a:p>
          <a:p>
            <a:pPr algn="r" rtl="1">
              <a:lnSpc>
                <a:spcPct val="168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פענוח תוצאות בדיקות — הגבול הרפואי</a:t>
            </a:r>
          </a:p>
          <a:p>
            <a:pPr algn="r" rtl="1">
              <a:lnSpc>
                <a:spcPct val="168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גרסת דסקטופ — הבעיה מתרחשת בטלפון</a:t>
            </a:r>
          </a:p>
          <a:p>
            <a:pPr algn="r" rtl="1">
              <a:lnSpc>
                <a:spcPct val="168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ממשק קולי — נבדק באימות, לא נבנה</a:t>
            </a:r>
          </a:p>
        </p:txBody>
      </p:sp>
      <p:pic>
        <p:nvPicPr>
          <p:cNvPr id="12" name="p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13" name="t13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13  /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חסמים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שלושת החסמים שיכולים לעצור את זה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לא סיכונים כלליים — שלושה מחסומים ספציפיים, וכל אחד עם המענה שנבחר לו.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717800"/>
            <a:ext cx="10464800" cy="10414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s7"/>
          <p:cNvSpPr/>
          <p:nvPr/>
        </p:nvSpPr>
        <p:spPr>
          <a:xfrm>
            <a:off x="11150600" y="2717800"/>
            <a:ext cx="127000" cy="10414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t8"/>
          <p:cNvSpPr txBox="1"/>
          <p:nvPr/>
        </p:nvSpPr>
        <p:spPr>
          <a:xfrm>
            <a:off x="10541000" y="29464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3000" b="1" dirty="0">
                <a:solidFill>
                  <a:srgbClr val="B03A2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9" name="t9"/>
          <p:cNvSpPr txBox="1"/>
          <p:nvPr/>
        </p:nvSpPr>
        <p:spPr>
          <a:xfrm>
            <a:off x="6096000" y="289560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גישה לנתוני הקופות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096000" y="3225800"/>
            <a:ext cx="426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אין ממשק ציבורי למטופלים. זהו חסם משפטי ורגולטורי לפני שהוא הנדסי.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66800" y="28956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B03A2E"/>
                </a:solidFill>
                <a:latin typeface="Segoe UI"/>
                <a:cs typeface="Segoe UI"/>
              </a:rPr>
              <a:t>המענה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066800" y="32004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המוצר נבנה כך שיספק ערך מלא ללא חיבור: מסמכים, קלט הורה והנחיות ציבוריות. חיבור עתידי מכפיל ערך ואינו תנאי לקיום.</a:t>
            </a:r>
          </a:p>
        </p:txBody>
      </p:sp>
      <p:sp>
        <p:nvSpPr>
          <p:cNvPr id="13" name="s13"/>
          <p:cNvSpPr/>
          <p:nvPr/>
        </p:nvSpPr>
        <p:spPr>
          <a:xfrm>
            <a:off x="812800" y="3886200"/>
            <a:ext cx="10464800" cy="10414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s14"/>
          <p:cNvSpPr/>
          <p:nvPr/>
        </p:nvSpPr>
        <p:spPr>
          <a:xfrm>
            <a:off x="11150600" y="3886200"/>
            <a:ext cx="127000" cy="10414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10541000" y="41148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3000" b="1" dirty="0">
                <a:solidFill>
                  <a:srgbClr val="CA6F1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096000" y="406400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אמון — מסירת מסמך רפואי של ילד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096000" y="4394200"/>
            <a:ext cx="426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מדוע שהורה ימסור סיכום רפואי של בנו לסטארטאפ שאינו מכיר?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066800" y="4064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CA6F1E"/>
                </a:solidFill>
                <a:latin typeface="Segoe UI"/>
                <a:cs typeface="Segoe UI"/>
              </a:rPr>
              <a:t>המענה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066800" y="43688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אנחנו הופכים את זה למדד ולא לתקווה: שיעור המשפחות שהעלו מסמך אמיתי הוא מדד האימות המרכזי שלנו. אם הוא נמוך — הבעיה אמיתית ונדע מיד.</a:t>
            </a:r>
          </a:p>
        </p:txBody>
      </p:sp>
      <p:sp>
        <p:nvSpPr>
          <p:cNvPr id="20" name="s20"/>
          <p:cNvSpPr/>
          <p:nvPr/>
        </p:nvSpPr>
        <p:spPr>
          <a:xfrm>
            <a:off x="812800" y="5054600"/>
            <a:ext cx="10464800" cy="1041400"/>
          </a:xfrm>
          <a:prstGeom prst="rect">
            <a:avLst/>
          </a:prstGeom>
          <a:solidFill>
            <a:srgbClr val="FCF7D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1" name="s21"/>
          <p:cNvSpPr/>
          <p:nvPr/>
        </p:nvSpPr>
        <p:spPr>
          <a:xfrm>
            <a:off x="11150600" y="5054600"/>
            <a:ext cx="127000" cy="104140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t22"/>
          <p:cNvSpPr txBox="1"/>
          <p:nvPr/>
        </p:nvSpPr>
        <p:spPr>
          <a:xfrm>
            <a:off x="10541000" y="52832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3000" b="1" dirty="0">
                <a:solidFill>
                  <a:srgbClr val="9A7D0A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096000" y="523240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תדירות — בריאות אינה אירוע יומי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6096000" y="5562600"/>
            <a:ext cx="42672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מוצר שנפתח פעמיים בשנה נמחק מהטלפון לפני שהספיק להוכיח ערך.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066800" y="523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9A7D0A"/>
                </a:solidFill>
                <a:latin typeface="Segoe UI"/>
                <a:cs typeface="Segoe UI"/>
              </a:rPr>
              <a:t>המענה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1066800" y="55372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הטריז 0–6 נבחר בין השאר בגלל תדירות: משפחה עם פעוט נוגעת בבריאות כמעט מדי חודש. התדירות אינה מקרית — היא בחירת שוק.</a:t>
            </a:r>
          </a:p>
        </p:txBody>
      </p:sp>
      <p:pic>
        <p:nvPicPr>
          <p:cNvPr id="27" name="p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8" name="t28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14  /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סיכונים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מה עוד יכול להשתבש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החסמים הגדולים בשקף הקודם. אלה שאר הסיכונים שאנחנו עוקבים אחריהם.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717800"/>
            <a:ext cx="10464800" cy="7112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s7"/>
          <p:cNvSpPr/>
          <p:nvPr/>
        </p:nvSpPr>
        <p:spPr>
          <a:xfrm>
            <a:off x="11150600" y="2717800"/>
            <a:ext cx="127000" cy="7112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t8"/>
          <p:cNvSpPr txBox="1"/>
          <p:nvPr/>
        </p:nvSpPr>
        <p:spPr>
          <a:xfrm>
            <a:off x="7112000" y="28702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B03A2E"/>
                </a:solidFill>
                <a:latin typeface="Segoe UI"/>
                <a:cs typeface="Segoe UI"/>
              </a:rPr>
              <a:t>פיתוי הסקרייפינג</a:t>
            </a:r>
          </a:p>
        </p:txBody>
      </p:sp>
      <p:sp>
        <p:nvSpPr>
          <p:cNvPr id="9" name="t9"/>
          <p:cNvSpPr txBox="1"/>
          <p:nvPr/>
        </p:nvSpPr>
        <p:spPr>
          <a:xfrm>
            <a:off x="7112000" y="31496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לבקש מהמשתמש את סיסמת הקופה שלו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117600" y="2971800"/>
            <a:ext cx="574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לא, בשום שלב. הפרת תנאי שימוש, חשיפה אבטחתית, והרס הנכס היחיד שיש לנו — האמון.</a:t>
            </a:r>
          </a:p>
        </p:txBody>
      </p:sp>
      <p:sp>
        <p:nvSpPr>
          <p:cNvPr id="11" name="s11"/>
          <p:cNvSpPr/>
          <p:nvPr/>
        </p:nvSpPr>
        <p:spPr>
          <a:xfrm>
            <a:off x="812800" y="3556000"/>
            <a:ext cx="10464800" cy="7112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s12"/>
          <p:cNvSpPr/>
          <p:nvPr/>
        </p:nvSpPr>
        <p:spPr>
          <a:xfrm>
            <a:off x="11150600" y="3556000"/>
            <a:ext cx="127000" cy="7112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7112000" y="37084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CA6F1E"/>
                </a:solidFill>
                <a:latin typeface="Segoe UI"/>
                <a:cs typeface="Segoe UI"/>
              </a:rPr>
              <a:t>OCR עברי וכתב יד של רופאים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7112000" y="3987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הנחת היסוד הטכנית של תרחיש המסמך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117600" y="3810000"/>
            <a:ext cx="574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נבדק על 20 מסמכים אמיתיים לפני שנבנה סביבו מוצר. זו בדיקה של ימים, לא של חודשים.</a:t>
            </a:r>
          </a:p>
        </p:txBody>
      </p:sp>
      <p:sp>
        <p:nvSpPr>
          <p:cNvPr id="16" name="s16"/>
          <p:cNvSpPr/>
          <p:nvPr/>
        </p:nvSpPr>
        <p:spPr>
          <a:xfrm>
            <a:off x="812800" y="4394200"/>
            <a:ext cx="10464800" cy="7112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s17"/>
          <p:cNvSpPr/>
          <p:nvPr/>
        </p:nvSpPr>
        <p:spPr>
          <a:xfrm>
            <a:off x="11150600" y="4394200"/>
            <a:ext cx="127000" cy="7112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8" name="t18"/>
          <p:cNvSpPr txBox="1"/>
          <p:nvPr/>
        </p:nvSpPr>
        <p:spPr>
          <a:xfrm>
            <a:off x="7112000" y="45466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CA6F1E"/>
                </a:solidFill>
                <a:latin typeface="Segoe UI"/>
                <a:cs typeface="Segoe UI"/>
              </a:rPr>
              <a:t>פרטיות — המידע יוצא מהמכשיר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112000" y="4826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ניתוח מסמך בענן הוא עיבוד מידע רפואי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117600" y="4648200"/>
            <a:ext cx="574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אנחנו אומרים זאת למשתמש במפורש במקום לנסח סביב זה. מינימיזציה, הצפנה, ולוגים שחוסמים תוכן רפואי.</a:t>
            </a:r>
          </a:p>
        </p:txBody>
      </p:sp>
      <p:sp>
        <p:nvSpPr>
          <p:cNvPr id="21" name="s21"/>
          <p:cNvSpPr/>
          <p:nvPr/>
        </p:nvSpPr>
        <p:spPr>
          <a:xfrm>
            <a:off x="812800" y="5232400"/>
            <a:ext cx="10464800" cy="711200"/>
          </a:xfrm>
          <a:prstGeom prst="rect">
            <a:avLst/>
          </a:prstGeom>
          <a:solidFill>
            <a:srgbClr val="FCF7D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s22"/>
          <p:cNvSpPr/>
          <p:nvPr/>
        </p:nvSpPr>
        <p:spPr>
          <a:xfrm>
            <a:off x="11150600" y="5232400"/>
            <a:ext cx="127000" cy="71120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23"/>
          <p:cNvSpPr txBox="1"/>
          <p:nvPr/>
        </p:nvSpPr>
        <p:spPr>
          <a:xfrm>
            <a:off x="7112000" y="53848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9A7D0A"/>
                </a:solidFill>
                <a:latin typeface="Segoe UI"/>
                <a:cs typeface="Segoe UI"/>
              </a:rPr>
              <a:t>מודל ההכנסה טרם הוכרע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7112000" y="5664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מנוי משפחתי? פרימיום? דרך מעסיק?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117600" y="5486400"/>
            <a:ext cx="574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במכוון. תמחור שנקבע לפני שיודעים מה הערך הוא ניחוש. ייקבע לפי נתוני האימות.</a:t>
            </a:r>
          </a:p>
        </p:txBody>
      </p:sp>
      <p:pic>
        <p:nvPicPr>
          <p:cNvPr id="26" name="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7" name="t27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15  /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שאלות נפוצות  ·  1 מתוך 2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מוצר ושוק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413000"/>
            <a:ext cx="10464800" cy="863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t6"/>
          <p:cNvSpPr txBox="1"/>
          <p:nvPr/>
        </p:nvSpPr>
        <p:spPr>
          <a:xfrm>
            <a:off x="1066800" y="25654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מדוע שמשפחה תשתמש בזה ולא ביומן המשפחתי שלה?</a:t>
            </a:r>
          </a:p>
        </p:txBody>
      </p:sp>
      <p:sp>
        <p:nvSpPr>
          <p:cNvPr id="7" name="t7"/>
          <p:cNvSpPr txBox="1"/>
          <p:nvPr/>
        </p:nvSpPr>
        <p:spPr>
          <a:xfrm>
            <a:off x="1066800" y="28702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יומן ממתין שתזכור. ILANO‏ קוראת את מה שכבר קיים ומייצרת ממנו פעולה. ההורה מאשר במקום לזכור.</a:t>
            </a:r>
          </a:p>
        </p:txBody>
      </p:sp>
      <p:sp>
        <p:nvSpPr>
          <p:cNvPr id="8" name="s8"/>
          <p:cNvSpPr/>
          <p:nvPr/>
        </p:nvSpPr>
        <p:spPr>
          <a:xfrm>
            <a:off x="812800" y="3378200"/>
            <a:ext cx="10464800" cy="863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1066800" y="35306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מה קורה אם ההורה לא מעלה דבר?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066800" y="38354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אין מוצר. לכן הערך חייב להגיע כבר מהמסמך הראשון, ואין מסך הקמה ארוך לפניו.</a:t>
            </a:r>
          </a:p>
        </p:txBody>
      </p:sp>
      <p:sp>
        <p:nvSpPr>
          <p:cNvPr id="11" name="s11"/>
          <p:cNvSpPr/>
          <p:nvPr/>
        </p:nvSpPr>
        <p:spPr>
          <a:xfrm>
            <a:off x="812800" y="4343400"/>
            <a:ext cx="10464800" cy="863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1066800" y="44958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מיהו המתחרה האמיתי?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066800" y="48006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הזיכרון של ההורה ופתק בתיק — לא אפליקציה. מי שמנצח את הפתק מנצח את השוק.</a:t>
            </a:r>
          </a:p>
        </p:txBody>
      </p:sp>
      <p:sp>
        <p:nvSpPr>
          <p:cNvPr id="14" name="s14"/>
          <p:cNvSpPr/>
          <p:nvPr/>
        </p:nvSpPr>
        <p:spPr>
          <a:xfrm>
            <a:off x="812800" y="5308600"/>
            <a:ext cx="10464800" cy="8636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1066800" y="54610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מדוע להתחיל דווקא בישראל?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66800" y="57658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0B5F58"/>
                </a:solidFill>
                <a:latin typeface="Segoe UI"/>
                <a:cs typeface="Segoe UI"/>
              </a:rPr>
              <a:t>ריבוי קופות בתוך משפחה אחת הוא כאב ישראלי מובהק, ולוח החיסונים הציבורי מספק לנו מקור מצוטט ללא עלות.</a:t>
            </a:r>
          </a:p>
        </p:txBody>
      </p:sp>
      <p:pic>
        <p:nvPicPr>
          <p:cNvPr id="17" name="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18" name="t18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16  /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שאלות נפוצות  ·  2 מתוך 2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בטיחות, כסף ורגולציה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413000"/>
            <a:ext cx="10464800" cy="863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t6"/>
          <p:cNvSpPr txBox="1"/>
          <p:nvPr/>
        </p:nvSpPr>
        <p:spPr>
          <a:xfrm>
            <a:off x="1066800" y="25654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אתם נותנים ייעוץ רפואי?</a:t>
            </a:r>
          </a:p>
        </p:txBody>
      </p:sp>
      <p:sp>
        <p:nvSpPr>
          <p:cNvPr id="7" name="t7"/>
          <p:cNvSpPr txBox="1"/>
          <p:nvPr/>
        </p:nvSpPr>
        <p:spPr>
          <a:xfrm>
            <a:off x="1066800" y="28702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לא. כל המלצה מצטטת מקור — הרופא, הנחיה ציבורית, או המשפחה עצמה. אין מקור רביעי, ואין דרך בקוד לעקוף זאת.</a:t>
            </a:r>
          </a:p>
        </p:txBody>
      </p:sp>
      <p:sp>
        <p:nvSpPr>
          <p:cNvPr id="8" name="s8"/>
          <p:cNvSpPr/>
          <p:nvPr/>
        </p:nvSpPr>
        <p:spPr>
          <a:xfrm>
            <a:off x="812800" y="3378200"/>
            <a:ext cx="10464800" cy="863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1066800" y="35306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מה קורה אם לעולם לא יהיה חיבור לקופות?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066800" y="38354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המוצר עדיין עובד. מסמכים, קלט הורה והנחיות ציבוריות מספיקים ל-V1. חיבור מכפיל ערך, ואינו תנאי לקיום.</a:t>
            </a:r>
          </a:p>
        </p:txBody>
      </p:sp>
      <p:sp>
        <p:nvSpPr>
          <p:cNvPr id="11" name="s11"/>
          <p:cNvSpPr/>
          <p:nvPr/>
        </p:nvSpPr>
        <p:spPr>
          <a:xfrm>
            <a:off x="812800" y="4343400"/>
            <a:ext cx="10464800" cy="863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1066800" y="44958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כיצד תרוויחו?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066800" y="48006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טרם הוכרע, במכוון. מנוי משפחתי הוא ההשערה הראשונה. תמחור שנקבע לפני שמכירים את הערך הוא ניחוש.</a:t>
            </a:r>
          </a:p>
        </p:txBody>
      </p:sp>
      <p:sp>
        <p:nvSpPr>
          <p:cNvPr id="14" name="s14"/>
          <p:cNvSpPr/>
          <p:nvPr/>
        </p:nvSpPr>
        <p:spPr>
          <a:xfrm>
            <a:off x="812800" y="5308600"/>
            <a:ext cx="10464800" cy="8636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1066800" y="5461000"/>
            <a:ext cx="9956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B03A2E"/>
                </a:solidFill>
                <a:latin typeface="Segoe UI"/>
                <a:cs typeface="Segoe UI"/>
              </a:rPr>
              <a:t>מה הסיכון הרגולטורי?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66800" y="5765800"/>
            <a:ext cx="9956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הגבול בין תוכנת ארגון למכשיר רפואי נבדק מול עורך דין לפני ה-beta ולא אחריה. איננו מנחשים בנושא הזה.</a:t>
            </a:r>
          </a:p>
        </p:txBody>
      </p:sp>
      <p:pic>
        <p:nvPicPr>
          <p:cNvPr id="17" name="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18" name="t18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17  /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מדידה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מדד הצפון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413000"/>
            <a:ext cx="10464800" cy="15748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t6"/>
          <p:cNvSpPr txBox="1"/>
          <p:nvPr/>
        </p:nvSpPr>
        <p:spPr>
          <a:xfrm>
            <a:off x="1219200" y="2717800"/>
            <a:ext cx="9652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he-IL" sz="2100" b="1" dirty="0">
                <a:solidFill>
                  <a:srgbClr val="0B5F58"/>
                </a:solidFill>
                <a:latin typeface="Segoe UI"/>
                <a:cs typeface="Segoe UI"/>
              </a:rPr>
              <a:t>מספר הפעולות הבריאותיות שהמשפחה השלימה בזכות ILANO‏ —</a:t>
            </a:r>
          </a:p>
          <a:p>
            <a:pPr algn="r" rtl="1">
              <a:lnSpc>
                <a:spcPct val="130000"/>
              </a:lnSpc>
            </a:pPr>
            <a:r>
              <a:rPr lang="he-IL" sz="2100" b="1" dirty="0">
                <a:solidFill>
                  <a:srgbClr val="0B5F58"/>
                </a:solidFill>
                <a:latin typeface="Segoe UI"/>
                <a:cs typeface="Segoe UI"/>
              </a:rPr>
              <a:t>ושלא הייתה נזכרת בהן בלעדיה.</a:t>
            </a:r>
          </a:p>
        </p:txBody>
      </p:sp>
      <p:sp>
        <p:nvSpPr>
          <p:cNvPr id="7" name="t7"/>
          <p:cNvSpPr txBox="1"/>
          <p:nvPr/>
        </p:nvSpPr>
        <p:spPr>
          <a:xfrm>
            <a:off x="812800" y="4241800"/>
            <a:ext cx="1046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0" dirty="0">
                <a:solidFill>
                  <a:srgbClr val="63736F"/>
                </a:solidFill>
                <a:latin typeface="Segoe UI"/>
                <a:cs typeface="Segoe UI"/>
              </a:rPr>
              <a:t>ומה איננו מדד הצפון: הורדות, זמן במסך, ומספר המסמכים שהועלו. כל אלה ניתנים לניפוח מבלי לייצר ערך.</a:t>
            </a:r>
          </a:p>
        </p:txBody>
      </p:sp>
      <p:sp>
        <p:nvSpPr>
          <p:cNvPr id="8" name="s8"/>
          <p:cNvSpPr/>
          <p:nvPr/>
        </p:nvSpPr>
        <p:spPr>
          <a:xfrm>
            <a:off x="812800" y="4800600"/>
            <a:ext cx="3352800" cy="11684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1066800" y="4978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0B5F58"/>
                </a:solidFill>
                <a:latin typeface="Segoe UI"/>
                <a:cs typeface="Segoe UI"/>
              </a:rPr>
              <a:t>20 משפחות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066800" y="5257800"/>
            <a:ext cx="2844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כמה הסכימו להעלות מסמך רפואי אמיתי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יעד: מעל מחצית</a:t>
            </a:r>
          </a:p>
        </p:txBody>
      </p:sp>
      <p:sp>
        <p:nvSpPr>
          <p:cNvPr id="11" name="s11"/>
          <p:cNvSpPr/>
          <p:nvPr/>
        </p:nvSpPr>
        <p:spPr>
          <a:xfrm>
            <a:off x="4368800" y="4800600"/>
            <a:ext cx="3352800" cy="11684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4622800" y="4978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0"/>
            <a:r>
              <a:rPr lang="en-US" sz="1100" b="1" dirty="0">
                <a:solidFill>
                  <a:srgbClr val="0B5F58"/>
                </a:solidFill>
                <a:latin typeface="Segoe UI"/>
                <a:cs typeface="Segoe UI"/>
              </a:rPr>
              <a:t>Beta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622800" y="5257800"/>
            <a:ext cx="2844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משפחות פעילות בשבוע הרביעי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יעד: מעל 40%</a:t>
            </a:r>
          </a:p>
        </p:txBody>
      </p:sp>
      <p:sp>
        <p:nvSpPr>
          <p:cNvPr id="14" name="s14"/>
          <p:cNvSpPr/>
          <p:nvPr/>
        </p:nvSpPr>
        <p:spPr>
          <a:xfrm>
            <a:off x="7924800" y="4800600"/>
            <a:ext cx="3352800" cy="11684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8178800" y="4978400"/>
            <a:ext cx="284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0"/>
            <a:r>
              <a:rPr lang="en-US" sz="1100" b="1" dirty="0">
                <a:solidFill>
                  <a:srgbClr val="0B5F58"/>
                </a:solidFill>
                <a:latin typeface="Segoe UI"/>
                <a:cs typeface="Segoe UI"/>
              </a:rPr>
              <a:t>Beta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8178800" y="5257800"/>
            <a:ext cx="2844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שיעור אישור ההצעות של ILANO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יעד: מעל 50%</a:t>
            </a:r>
          </a:p>
        </p:txBody>
      </p:sp>
      <p:pic>
        <p:nvPicPr>
          <p:cNvPr id="17" name="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18" name="t18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18  /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הדרך מכאן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לא בונים מוצר לפני שיודעים שרוצים אותו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540000"/>
            <a:ext cx="10464800" cy="381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s6"/>
          <p:cNvSpPr/>
          <p:nvPr/>
        </p:nvSpPr>
        <p:spPr>
          <a:xfrm>
            <a:off x="812800" y="2463800"/>
            <a:ext cx="2540000" cy="1905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812800" y="28702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שלבים 1–3</a:t>
            </a:r>
          </a:p>
        </p:txBody>
      </p:sp>
      <p:sp>
        <p:nvSpPr>
          <p:cNvPr id="8" name="t8"/>
          <p:cNvSpPr txBox="1"/>
          <p:nvPr/>
        </p:nvSpPr>
        <p:spPr>
          <a:xfrm>
            <a:off x="812800" y="3200400"/>
            <a:ext cx="2413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מסמך מוצר ✓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מותג ושפה עיצובית ✓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User Flows</a:t>
            </a:r>
          </a:p>
        </p:txBody>
      </p:sp>
      <p:sp>
        <p:nvSpPr>
          <p:cNvPr id="9" name="t9"/>
          <p:cNvSpPr txBox="1"/>
          <p:nvPr/>
        </p:nvSpPr>
        <p:spPr>
          <a:xfrm>
            <a:off x="3479800" y="28702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שלבים 4–5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479800" y="3200400"/>
            <a:ext cx="2413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Prototype אינטראקטיבי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12 מסכים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נתוני הדגמה מסומנים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146800" y="2870200"/>
            <a:ext cx="2413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שלבים 6–7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146800" y="3200400"/>
            <a:ext cx="2413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20 משפחות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מדידה, לא הצגה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הגדרת V1 מהממצאים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813800" y="2870200"/>
            <a:ext cx="2463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63736F"/>
                </a:solidFill>
                <a:latin typeface="Segoe UI"/>
                <a:cs typeface="Segoe UI"/>
              </a:rPr>
              <a:t>שלבים 8–12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813800" y="3200400"/>
            <a:ext cx="24638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63736F"/>
                </a:solidFill>
                <a:latin typeface="Segoe UI"/>
                <a:cs typeface="Segoe UI"/>
              </a:rPr>
              <a:t>מוצר · אינטגרציות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63736F"/>
                </a:solidFill>
                <a:latin typeface="Segoe UI"/>
                <a:cs typeface="Segoe UI"/>
              </a:rPr>
              <a:t>Beta · צמיחה</a:t>
            </a:r>
          </a:p>
          <a:p>
            <a:pPr algn="r" rtl="1">
              <a:lnSpc>
                <a:spcPct val="150000"/>
              </a:lnSpc>
            </a:pPr>
            <a:r>
              <a:rPr lang="he-IL" sz="1300" b="0" dirty="0">
                <a:solidFill>
                  <a:srgbClr val="63736F"/>
                </a:solidFill>
                <a:latin typeface="Segoe UI"/>
                <a:cs typeface="Segoe UI"/>
              </a:rPr>
              <a:t>ייגזר מהממצאים</a:t>
            </a:r>
          </a:p>
        </p:txBody>
      </p:sp>
      <p:sp>
        <p:nvSpPr>
          <p:cNvPr id="15" name="s15"/>
          <p:cNvSpPr/>
          <p:nvPr/>
        </p:nvSpPr>
        <p:spPr>
          <a:xfrm>
            <a:off x="812800" y="4749800"/>
            <a:ext cx="10464800" cy="13208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1117600" y="4927600"/>
            <a:ext cx="9855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0B5F58"/>
                </a:solidFill>
                <a:latin typeface="Segoe UI"/>
                <a:cs typeface="Segoe UI"/>
              </a:rPr>
              <a:t>הצעד הבא, ועלותו אפס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117600" y="5257800"/>
            <a:ext cx="9855200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4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שתי הבדיקות שמזיזות הכי הרבה אינן דורשות שורת קוד:</a:t>
            </a:r>
          </a:p>
          <a:p>
            <a:pPr algn="r" rtl="1">
              <a:lnSpc>
                <a:spcPct val="140000"/>
              </a:lnSpc>
            </a:pPr>
            <a:r>
              <a:rPr lang="he-IL" sz="1300" b="0" dirty="0">
                <a:solidFill>
                  <a:srgbClr val="101718"/>
                </a:solidFill>
                <a:latin typeface="Segoe UI"/>
                <a:cs typeface="Segoe UI"/>
              </a:rPr>
              <a:t>לבחון OCR‏ עברי על 20 מסמכים רפואיים אמיתיים, ולשאול חמישה הורים מה נפל להם בשנה האחרונה.</a:t>
            </a:r>
          </a:p>
        </p:txBody>
      </p:sp>
      <p:pic>
        <p:nvPicPr>
          <p:cNvPr id="18" name="p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19" name="t19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19  /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pic>
        <p:nvPicPr>
          <p:cNvPr id="3" name="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400" y="1905000"/>
            <a:ext cx="1066800" cy="10668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812800" y="3251200"/>
            <a:ext cx="9271000" cy="165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he-IL" sz="3400" b="1" dirty="0">
                <a:solidFill>
                  <a:srgbClr val="FFFFFF"/>
                </a:solidFill>
                <a:latin typeface="Segoe UI"/>
                <a:cs typeface="Segoe UI"/>
              </a:rPr>
              <a:t>כל משפחה היא אילן.</a:t>
            </a:r>
          </a:p>
          <a:p>
            <a:pPr algn="r" rtl="1">
              <a:lnSpc>
                <a:spcPct val="130000"/>
              </a:lnSpc>
            </a:pPr>
            <a:r>
              <a:rPr lang="he-IL" sz="3400" b="1" dirty="0">
                <a:solidFill>
                  <a:srgbClr val="FFFFFF"/>
                </a:solidFill>
                <a:latin typeface="Segoe UI"/>
                <a:cs typeface="Segoe UI"/>
              </a:rPr>
              <a:t>עד היום איש לא ראה אותו שלם.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4876800"/>
            <a:ext cx="9271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0"/>
            <a:r>
              <a:rPr lang="en-US" sz="1500" b="1" dirty="0">
                <a:solidFill>
                  <a:srgbClr val="2FAE8E"/>
                </a:solidFill>
                <a:latin typeface="Segoe UI"/>
                <a:cs typeface="Segoe UI"/>
              </a:rPr>
              <a:t>ILANO  ·  FAMILY HEALTH OS</a:t>
            </a:r>
          </a:p>
        </p:txBody>
      </p:sp>
      <p:sp>
        <p:nvSpPr>
          <p:cNvPr id="6" name="s6"/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812800" y="59182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8FA19C"/>
                </a:solidFill>
                <a:latin typeface="Segoe UI"/>
                <a:cs typeface="Segoe UI"/>
              </a:rPr>
              <a:t>ILANO‏ אינה נותנת ייעוץ רפואי ואינה מאבחנת. אין חיבור, שיתוף פעולה או קשר לכללית, מכבי, מאוחדת, לאומית, צה״ל או כל גוף בריאות אחר. משפחת לוי היא דוגמה בדויה.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ANO">
  <a:themeElements>
    <a:clrScheme name="ILANO">
      <a:dk1>
        <a:srgbClr val="101718"/>
      </a:dk1>
      <a:lt1>
        <a:srgbClr val="FFFFFF"/>
      </a:lt1>
      <a:dk2>
        <a:srgbClr val="0C1213"/>
      </a:dk2>
      <a:lt2>
        <a:srgbClr val="F2F5F4"/>
      </a:lt2>
      <a:accent1>
        <a:srgbClr val="12857A"/>
      </a:accent1>
      <a:accent2>
        <a:srgbClr val="B03A2E"/>
      </a:accent2>
      <a:accent3>
        <a:srgbClr val="CA6F1E"/>
      </a:accent3>
      <a:accent4>
        <a:srgbClr val="9A7D0A"/>
      </a:accent4>
      <a:accent5>
        <a:srgbClr val="1E8449"/>
      </a:accent5>
      <a:accent6>
        <a:srgbClr val="63736F"/>
      </a:accent6>
      <a:hlink>
        <a:srgbClr val="12857A"/>
      </a:hlink>
      <a:folHlink>
        <a:srgbClr val="63736F"/>
      </a:folHlink>
    </a:clrScheme>
    <a:fontScheme name="ILANO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ILAN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